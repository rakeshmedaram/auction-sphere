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6"/>
  </p:notesMasterIdLst>
  <p:handoutMasterIdLst>
    <p:handoutMasterId r:id="rId17"/>
  </p:handoutMasterIdLst>
  <p:sldIdLst>
    <p:sldId id="365" r:id="rId2"/>
    <p:sldId id="257" r:id="rId3"/>
    <p:sldId id="359" r:id="rId4"/>
    <p:sldId id="333" r:id="rId5"/>
    <p:sldId id="326" r:id="rId6"/>
    <p:sldId id="327" r:id="rId7"/>
    <p:sldId id="361" r:id="rId8"/>
    <p:sldId id="264" r:id="rId9"/>
    <p:sldId id="360" r:id="rId10"/>
    <p:sldId id="362" r:id="rId11"/>
    <p:sldId id="363" r:id="rId12"/>
    <p:sldId id="364" r:id="rId13"/>
    <p:sldId id="324" r:id="rId14"/>
    <p:sldId id="325" r:id="rId15"/>
  </p:sldIdLst>
  <p:sldSz cx="12192000" cy="6858000"/>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500000"/>
    <a:srgbClr val="8D4B39"/>
    <a:srgbClr val="3A12E4"/>
    <a:srgbClr val="AD13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9C5F30-DBB6-A957-A16A-7140CDB7B7D9}" v="73" dt="2026-03-06T18:23:54.250"/>
    <p1510:client id="{9ED488B0-CEE7-4401-B369-0DDD3032D6F4}" v="11" dt="2026-03-06T18:12:44.30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FCD488E7-32EB-47E0-A410-553469FAE50A}" type="datetimeFigureOut">
              <a:rPr kumimoji="0" lang="en-US" sz="1200" b="0" i="0" u="none" strike="noStrike" kern="1200" cap="none" spc="0" normalizeH="0" baseline="0" noProof="0">
                <a:ln>
                  <a:noFill/>
                </a:ln>
                <a:solidFill>
                  <a:schemeClr val="tx1"/>
                </a:solidFill>
                <a:effectLst/>
                <a:uLnTx/>
                <a:uFillTx/>
                <a:latin typeface="+mn-lt"/>
                <a:ea typeface="+mn-ea"/>
                <a:cs typeface="+mn-cs"/>
              </a:rPr>
              <a:t>3/7/2026</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Footer Placeholder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Slide Number Placeholder 4"/>
          <p:cNvSpPr>
            <a:spLocks noGrp="1"/>
          </p:cNvSpPr>
          <p:nvPr>
            <p:ph type="sldNum" sz="quarter" idx="3"/>
          </p:nvPr>
        </p:nvSpPr>
        <p:spPr>
          <a:xfrm>
            <a:off x="3884613" y="8685213"/>
            <a:ext cx="2971800" cy="458788"/>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en-US" altLang="en-US" sz="1200" dirty="0">
                <a:latin typeface="Century Gothic" panose="020B0502020202020204" pitchFamily="34" charset="0"/>
              </a:rPr>
              <a:t>‹#›</a:t>
            </a:fld>
            <a:endParaRPr lang="en-US" altLang="en-US" sz="1200">
              <a:latin typeface="Century Gothic" panose="020B0502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228F3C24-9E74-400C-8A7B-4DFED47DC19B}" type="datetimeFigureOut">
              <a:rPr kumimoji="0" lang="en-US" sz="1200" b="0" i="0" u="none" strike="noStrike" kern="1200" cap="none" spc="0" normalizeH="0" baseline="0" noProof="0">
                <a:ln>
                  <a:noFill/>
                </a:ln>
                <a:solidFill>
                  <a:schemeClr val="tx1"/>
                </a:solidFill>
                <a:effectLst/>
                <a:uLnTx/>
                <a:uFillTx/>
                <a:latin typeface="+mn-lt"/>
                <a:ea typeface="+mn-ea"/>
                <a:cs typeface="+mn-cs"/>
              </a:rPr>
              <a:t>3/7/2026</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p>
        </p:txBody>
      </p:sp>
      <p:sp>
        <p:nvSpPr>
          <p:cNvPr id="6" name="Footer Placeholder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en-US" altLang="en-US" sz="1200" dirty="0">
                <a:latin typeface="Century Gothic" panose="020B0502020202020204" pitchFamily="34" charset="0"/>
              </a:rPr>
              <a:t>‹#›</a:t>
            </a:fld>
            <a:endParaRPr lang="en-US" altLang="en-US" sz="1200">
              <a:latin typeface="Century Gothic" panose="020B0502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a:ln>
            <a:solidFill>
              <a:srgbClr val="000000">
                <a:alpha val="100000"/>
              </a:srgbClr>
            </a:solidFill>
            <a:miter lim="800000"/>
          </a:ln>
        </p:spPr>
      </p:sp>
      <p:sp>
        <p:nvSpPr>
          <p:cNvPr id="11267" name="Notes Placeholder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en-IN" altLang="en-US"/>
          </a:p>
        </p:txBody>
      </p:sp>
      <p:sp>
        <p:nvSpPr>
          <p:cNvPr id="11268"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en-US" altLang="en-US" sz="1200" dirty="0">
                <a:latin typeface="Century Gothic" panose="020B0502020202020204" pitchFamily="34" charset="0"/>
              </a:rPr>
              <a:t>2</a:t>
            </a:fld>
            <a:endParaRPr lang="en-US" altLang="en-US" sz="1200">
              <a:latin typeface="Century Gothic" panose="020B0502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a:solidFill>
              <a:srgbClr val="000000">
                <a:alpha val="100000"/>
              </a:srgbClr>
            </a:solidFill>
            <a:miter lim="800000"/>
          </a:ln>
        </p:spPr>
      </p:sp>
      <p:sp>
        <p:nvSpPr>
          <p:cNvPr id="14339" name="Notes Placeholder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en-IN" altLang="en-US"/>
          </a:p>
        </p:txBody>
      </p:sp>
      <p:sp>
        <p:nvSpPr>
          <p:cNvPr id="14340"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en-US" altLang="en-US" sz="1200" dirty="0">
                <a:latin typeface="Century Gothic" panose="020B0502020202020204" pitchFamily="34" charset="0"/>
              </a:rPr>
              <a:t>4</a:t>
            </a:fld>
            <a:endParaRPr lang="en-US" altLang="en-US" sz="1200">
              <a:latin typeface="Century Gothic" panose="020B0502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4" name="Rounded Rectangle 12"/>
          <p:cNvSpPr/>
          <p:nvPr/>
        </p:nvSpPr>
        <p:spPr>
          <a:xfrm>
            <a:off x="87313"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Rectangle 4"/>
          <p:cNvSpPr/>
          <p:nvPr/>
        </p:nvSpPr>
        <p:spPr bwMode="ltGray">
          <a:xfrm>
            <a:off x="84138" y="1449388"/>
            <a:ext cx="12028488" cy="1527175"/>
          </a:xfrm>
          <a:prstGeom prst="rect">
            <a:avLst/>
          </a:prstGeom>
          <a:solidFill>
            <a:schemeClr val="bg2">
              <a:lumMod val="5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Rectangle 5"/>
          <p:cNvSpPr/>
          <p:nvPr/>
        </p:nvSpPr>
        <p:spPr>
          <a:xfrm>
            <a:off x="84138" y="1397000"/>
            <a:ext cx="12028488" cy="120650"/>
          </a:xfrm>
          <a:prstGeom prst="rect">
            <a:avLst/>
          </a:prstGeom>
          <a:solidFill>
            <a:schemeClr val="bg2">
              <a:lumMod val="75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Rectangle 6"/>
          <p:cNvSpPr/>
          <p:nvPr/>
        </p:nvSpPr>
        <p:spPr>
          <a:xfrm>
            <a:off x="84138" y="2976563"/>
            <a:ext cx="12028488" cy="111125"/>
          </a:xfrm>
          <a:prstGeom prst="rect">
            <a:avLst/>
          </a:prstGeom>
          <a:solidFill>
            <a:schemeClr val="bg2"/>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chemeClr val="bg1"/>
                </a:solidFill>
              </a:defRPr>
            </a:lvl1pPr>
          </a:lstStyle>
          <a:p>
            <a:r>
              <a:rPr lang="en-US"/>
              <a:t>Click to edit Master title style</a:t>
            </a:r>
          </a:p>
        </p:txBody>
      </p:sp>
      <p:sp>
        <p:nvSpPr>
          <p:cNvPr id="3" name="Date Placeholder 27"/>
          <p:cNvSpPr>
            <a:spLocks noGrp="1"/>
          </p:cNvSpPr>
          <p:nvPr>
            <p:ph type="dt" sz="half" idx="2"/>
          </p:nvPr>
        </p:nvSpPr>
        <p:spPr>
          <a:xfrm>
            <a:off x="8229600" y="6191250"/>
            <a:ext cx="33020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34760C8-6692-4694-A17A-B1FA3FBA16DF}" type="datetime2">
              <a:rPr kumimoji="0" lang="en-US" sz="1400" b="0" i="0" u="none" strike="noStrike" kern="1200" cap="none" spc="0" normalizeH="0" baseline="0" noProof="0">
                <a:ln>
                  <a:noFill/>
                </a:ln>
                <a:solidFill>
                  <a:schemeClr val="tx2"/>
                </a:solidFill>
                <a:effectLst/>
                <a:uLnTx/>
                <a:uFillTx/>
                <a:latin typeface="+mn-lt"/>
                <a:ea typeface="+mn-ea"/>
                <a:cs typeface="+mn-cs"/>
              </a:rPr>
              <a:t>Saturday, March 7,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0" name="Footer Placeholder 16"/>
          <p:cNvSpPr>
            <a:spLocks noGrp="1"/>
          </p:cNvSpPr>
          <p:nvPr>
            <p:ph type="ftr" sz="quarter" idx="3"/>
          </p:nvPr>
        </p:nvSpPr>
        <p:spPr>
          <a:xfrm>
            <a:off x="1219200" y="6172200"/>
            <a:ext cx="52832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11" name="Slide Number Placeholder 28"/>
          <p:cNvSpPr>
            <a:spLocks noGrp="1"/>
          </p:cNvSpPr>
          <p:nvPr>
            <p:ph type="sldNum" sz="quarter" idx="4"/>
          </p:nvPr>
        </p:nvSpPr>
        <p:spPr>
          <a:xfrm>
            <a:off x="195263" y="6210300"/>
            <a:ext cx="609600" cy="457200"/>
          </a:xfrm>
          <a:prstGeom prst="ellipse">
            <a:avLst/>
          </a:prstGeom>
          <a:solidFill>
            <a:schemeClr val="bg2">
              <a:lumMod val="50000"/>
            </a:schemeClr>
          </a:solidFill>
          <a:ln>
            <a:solidFill>
              <a:schemeClr val="bg2">
                <a:lumMod val="50000"/>
              </a:schemeClr>
            </a:solidFill>
          </a:ln>
        </p:spPr>
        <p:txBody>
          <a:bodyPr vert="horz" wrap="none" lIns="0" tIns="0" rIns="0" bIns="0" numCol="1" anchor="ctr" anchorCtr="1" compatLnSpc="1">
            <a:noAutofit/>
          </a:bodyPr>
          <a:lstStyle/>
          <a:p>
            <a:pPr algn="ctr" eaLnBrk="1" hangingPunct="1">
              <a:buNone/>
            </a:pPr>
            <a:fld id="{9A0DB2DC-4C9A-4742-B13C-FB6460FD3503}" type="slidenum">
              <a:rPr lang="en-US" altLang="en-US" dirty="0">
                <a:solidFill>
                  <a:srgbClr val="FFFFFF"/>
                </a:solidFill>
                <a:latin typeface="Century Gothic" panose="020B0502020202020204" pitchFamily="34" charset="0"/>
              </a:rPr>
              <a:t>‹#›</a:t>
            </a:fld>
            <a:endParaRPr lang="en-US" altLang="en-US">
              <a:solidFill>
                <a:srgbClr val="FFFFFF"/>
              </a:solidFill>
              <a:latin typeface="Century Gothic" panose="020B0502020202020204" pitchFamily="34" charset="0"/>
            </a:endParaRPr>
          </a:p>
        </p:txBody>
      </p:sp>
    </p:spTree>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Content Placeholder 7"/>
          <p:cNvSpPr>
            <a:spLocks noGrp="1"/>
          </p:cNvSpPr>
          <p:nvPr>
            <p:ph sz="quarter" idx="1"/>
          </p:nvPr>
        </p:nvSpPr>
        <p:spPr>
          <a:xfrm>
            <a:off x="1219200" y="1447800"/>
            <a:ext cx="10363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6B0FF2C-FCB8-44B9-B5FF-90105FB027DF}" type="datetime2">
              <a:rPr kumimoji="0" lang="en-US" sz="1400" b="0" i="0" u="none" strike="noStrike" kern="1200" cap="none" spc="0" normalizeH="0" baseline="0" noProof="0">
                <a:ln>
                  <a:noFill/>
                </a:ln>
                <a:solidFill>
                  <a:schemeClr val="tx2"/>
                </a:solidFill>
                <a:effectLst/>
                <a:uLnTx/>
                <a:uFillTx/>
                <a:latin typeface="+mn-lt"/>
                <a:ea typeface="+mn-ea"/>
                <a:cs typeface="+mn-cs"/>
              </a:rPr>
              <a:t>Saturday, March 7,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a:latin typeface="Palatino Linotype" panose="02040502050505030304" pitchFamily="18" charset="0"/>
            </a:endParaRPr>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4" name="Rectangle 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5"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Rectangle 4"/>
          <p:cNvSpPr/>
          <p:nvPr/>
        </p:nvSpPr>
        <p:spPr>
          <a:xfrm flipV="1">
            <a:off x="92075" y="2376488"/>
            <a:ext cx="12018963"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Rectangle 5"/>
          <p:cNvSpPr/>
          <p:nvPr/>
        </p:nvSpPr>
        <p:spPr>
          <a:xfrm>
            <a:off x="92075" y="2341563"/>
            <a:ext cx="12018963"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Rectangle 6"/>
          <p:cNvSpPr/>
          <p:nvPr/>
        </p:nvSpPr>
        <p:spPr>
          <a:xfrm>
            <a:off x="90488" y="2468563"/>
            <a:ext cx="12020550" cy="46038"/>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Text Placeholder 2"/>
          <p:cNvSpPr>
            <a:spLocks noGrp="1"/>
          </p:cNvSpPr>
          <p:nvPr>
            <p:ph type="body" idx="1"/>
          </p:nvPr>
        </p:nvSpPr>
        <p:spPr>
          <a:xfrm>
            <a:off x="963084" y="2547938"/>
            <a:ext cx="103632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963084" y="952501"/>
            <a:ext cx="10363200" cy="1362075"/>
          </a:xfrm>
        </p:spPr>
        <p:txBody>
          <a:bodyPr/>
          <a:lstStyle>
            <a:lvl1pPr algn="l">
              <a:buNone/>
              <a:defRPr sz="4000" b="0" cap="none"/>
            </a:lvl1pPr>
          </a:lstStyle>
          <a:p>
            <a:r>
              <a:rPr lang="en-US"/>
              <a:t>Click to edit Master title style</a:t>
            </a:r>
          </a:p>
        </p:txBody>
      </p:sp>
      <p:sp>
        <p:nvSpPr>
          <p:cNvPr id="9" name="Date Placeholder 3"/>
          <p:cNvSpPr>
            <a:spLocks noGrp="1"/>
          </p:cNvSpPr>
          <p:nvPr>
            <p:ph type="dt" sz="half" idx="2"/>
          </p:nvPr>
        </p:nvSpPr>
        <p:spPr>
          <a:xfrm>
            <a:off x="8229600" y="6191250"/>
            <a:ext cx="33020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DD293C7-E456-4A8D-B79A-50559D68E43D}" type="datetime2">
              <a:rPr kumimoji="0" lang="en-US" sz="1400" b="0" i="0" u="none" strike="noStrike" kern="1200" cap="none" spc="0" normalizeH="0" baseline="0" noProof="0">
                <a:ln>
                  <a:noFill/>
                </a:ln>
                <a:solidFill>
                  <a:schemeClr val="tx2"/>
                </a:solidFill>
                <a:effectLst/>
                <a:uLnTx/>
                <a:uFillTx/>
                <a:latin typeface="+mn-lt"/>
                <a:ea typeface="+mn-ea"/>
                <a:cs typeface="+mn-cs"/>
              </a:rPr>
              <a:t>Saturday, March 7,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0" name="Footer Placeholder 4"/>
          <p:cNvSpPr>
            <a:spLocks noGrp="1"/>
          </p:cNvSpPr>
          <p:nvPr>
            <p:ph type="ftr" sz="quarter" idx="3"/>
          </p:nvPr>
        </p:nvSpPr>
        <p:spPr>
          <a:xfrm>
            <a:off x="1066800" y="6172200"/>
            <a:ext cx="53340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11" name="Slide Number Placeholder 5"/>
          <p:cNvSpPr>
            <a:spLocks noGrp="1"/>
          </p:cNvSpPr>
          <p:nvPr>
            <p:ph type="sldNum" sz="quarter" idx="4"/>
          </p:nvPr>
        </p:nvSpPr>
        <p:spPr>
          <a:xfrm>
            <a:off x="195263" y="6208713"/>
            <a:ext cx="609600" cy="457200"/>
          </a:xfrm>
          <a:prstGeom prst="ellipse">
            <a:avLst/>
          </a:prstGeom>
          <a:solidFill>
            <a:schemeClr val="bg2">
              <a:lumMod val="50000"/>
            </a:schemeClr>
          </a:solidFill>
          <a:ln>
            <a:solidFill>
              <a:schemeClr val="bg2">
                <a:lumMod val="50000"/>
              </a:schemeClr>
            </a:solidFill>
          </a:ln>
        </p:spPr>
        <p:txBody>
          <a:bodyPr vert="horz" wrap="none" lIns="0" tIns="0" rIns="0" bIns="0" numCol="1" anchor="ctr" anchorCtr="1" compatLnSpc="1">
            <a:noAutofit/>
          </a:bodyPr>
          <a:lstStyle/>
          <a:p>
            <a:pPr algn="ctr" eaLnBrk="1" hangingPunct="1">
              <a:buNone/>
            </a:pPr>
            <a:fld id="{9A0DB2DC-4C9A-4742-B13C-FB6460FD3503}" type="slidenum">
              <a:rPr lang="en-US" altLang="en-US" dirty="0">
                <a:latin typeface="Century Gothic" panose="020B0502020202020204" pitchFamily="34" charset="0"/>
              </a:rPr>
              <a:t>‹#›</a:t>
            </a:fld>
            <a:endParaRPr lang="en-US" altLang="en-US">
              <a:latin typeface="Century Gothic" panose="020B0502020202020204" pitchFamily="34" charset="0"/>
            </a:endParaRPr>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2"/>
          </p:nvPr>
        </p:nvSpPr>
        <p:spPr>
          <a:xfrm>
            <a:off x="6578600" y="1447800"/>
            <a:ext cx="49987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
          </p:nvPr>
        </p:nvSpPr>
        <p:spPr>
          <a:xfrm>
            <a:off x="1219200" y="1447800"/>
            <a:ext cx="49987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6B0FF2C-FCB8-44B9-B5FF-90105FB027DF}" type="datetime2">
              <a:rPr kumimoji="0" lang="en-US" sz="1400" b="0" i="0" u="none" strike="noStrike" kern="1200" cap="none" spc="0" normalizeH="0" baseline="0" noProof="0">
                <a:ln>
                  <a:noFill/>
                </a:ln>
                <a:solidFill>
                  <a:schemeClr val="tx2"/>
                </a:solidFill>
                <a:effectLst/>
                <a:uLnTx/>
                <a:uFillTx/>
                <a:latin typeface="+mn-lt"/>
                <a:ea typeface="+mn-ea"/>
                <a:cs typeface="+mn-cs"/>
              </a:rPr>
              <a:t>Saturday, March 7,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a:latin typeface="Palatino Linotype" panose="02040502050505030304" pitchFamily="18" charset="0"/>
            </a:endParaRPr>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half" idx="4"/>
          </p:nvPr>
        </p:nvSpPr>
        <p:spPr>
          <a:xfrm>
            <a:off x="6604000" y="2247900"/>
            <a:ext cx="49784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1219200" y="2247900"/>
            <a:ext cx="49784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2" name="Title 1"/>
          <p:cNvSpPr>
            <a:spLocks noGrp="1"/>
          </p:cNvSpPr>
          <p:nvPr>
            <p:ph type="title"/>
          </p:nvPr>
        </p:nvSpPr>
        <p:spPr>
          <a:xfrm>
            <a:off x="1219200" y="273050"/>
            <a:ext cx="10363200" cy="1143000"/>
          </a:xfrm>
        </p:spPr>
        <p:txBody>
          <a:bodyPr/>
          <a:lstStyle>
            <a:lvl1pPr>
              <a:defRPr/>
            </a:lvl1pPr>
          </a:lstStyle>
          <a:p>
            <a:r>
              <a:rPr lang="en-US"/>
              <a:t>Click to edit Master title style</a:t>
            </a: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6B0FF2C-FCB8-44B9-B5FF-90105FB027DF}" type="datetime2">
              <a:rPr kumimoji="0" lang="en-US" sz="1400" b="0" i="0" u="none" strike="noStrike" kern="1200" cap="none" spc="0" normalizeH="0" baseline="0" noProof="0">
                <a:ln>
                  <a:noFill/>
                </a:ln>
                <a:solidFill>
                  <a:schemeClr val="tx2"/>
                </a:solidFill>
                <a:effectLst/>
                <a:uLnTx/>
                <a:uFillTx/>
                <a:latin typeface="+mn-lt"/>
                <a:ea typeface="+mn-ea"/>
                <a:cs typeface="+mn-cs"/>
              </a:rPr>
              <a:t>Saturday, March 7,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a:latin typeface="Palatino Linotype" panose="02040502050505030304" pitchFamily="18" charset="0"/>
            </a:endParaRP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6B0FF2C-FCB8-44B9-B5FF-90105FB027DF}" type="datetime2">
              <a:rPr kumimoji="0" lang="en-US" sz="1400" b="0" i="0" u="none" strike="noStrike" kern="1200" cap="none" spc="0" normalizeH="0" baseline="0" noProof="0">
                <a:ln>
                  <a:noFill/>
                </a:ln>
                <a:solidFill>
                  <a:schemeClr val="tx2"/>
                </a:solidFill>
                <a:effectLst/>
                <a:uLnTx/>
                <a:uFillTx/>
                <a:latin typeface="+mn-lt"/>
                <a:ea typeface="+mn-ea"/>
                <a:cs typeface="+mn-cs"/>
              </a:rPr>
              <a:t>Saturday, March 7,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a:latin typeface="Palatino Linotype" panose="02040502050505030304" pitchFamily="18" charset="0"/>
            </a:endParaRPr>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6B0FF2C-FCB8-44B9-B5FF-90105FB027DF}" type="datetime2">
              <a:rPr kumimoji="0" lang="en-US" sz="1400" b="0" i="0" u="none" strike="noStrike" kern="1200" cap="none" spc="0" normalizeH="0" baseline="0" noProof="0">
                <a:ln>
                  <a:noFill/>
                </a:ln>
                <a:solidFill>
                  <a:schemeClr val="tx2"/>
                </a:solidFill>
                <a:effectLst/>
                <a:uLnTx/>
                <a:uFillTx/>
                <a:latin typeface="+mn-lt"/>
                <a:ea typeface="+mn-ea"/>
                <a:cs typeface="+mn-cs"/>
              </a:rPr>
              <a:t>Saturday, March 7,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4" name="Slide Number Placeholder 3"/>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a:latin typeface="Palatino Linotype" panose="02040502050505030304" pitchFamily="18" charset="0"/>
            </a:endParaRP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4" name="Rectangle 1"/>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5" name="Rounded Rectangle 8"/>
          <p:cNvSpPr/>
          <p:nvPr/>
        </p:nvSpPr>
        <p:spPr>
          <a:xfrm>
            <a:off x="85725"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Content Placeholder 10"/>
          <p:cNvSpPr>
            <a:spLocks noGrp="1"/>
          </p:cNvSpPr>
          <p:nvPr>
            <p:ph sz="quarter" idx="1"/>
          </p:nvPr>
        </p:nvSpPr>
        <p:spPr>
          <a:xfrm>
            <a:off x="3962400" y="1600200"/>
            <a:ext cx="7620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2" name="Title 1"/>
          <p:cNvSpPr>
            <a:spLocks noGrp="1"/>
          </p:cNvSpPr>
          <p:nvPr>
            <p:ph type="title"/>
          </p:nvPr>
        </p:nvSpPr>
        <p:spPr>
          <a:xfrm>
            <a:off x="1219200" y="273050"/>
            <a:ext cx="10363200" cy="1143000"/>
          </a:xfrm>
        </p:spPr>
        <p:txBody>
          <a:bodyPr/>
          <a:lstStyle>
            <a:lvl1pPr algn="l">
              <a:buNone/>
              <a:defRPr sz="4000" b="0"/>
            </a:lvl1pPr>
          </a:lstStyle>
          <a:p>
            <a:r>
              <a:rPr lang="en-US"/>
              <a:t>Click to edit Master title style</a:t>
            </a:r>
          </a:p>
        </p:txBody>
      </p:sp>
      <p:sp>
        <p:nvSpPr>
          <p:cNvPr id="6" name="Date Placeholder 4"/>
          <p:cNvSpPr>
            <a:spLocks noGrp="1"/>
          </p:cNvSpPr>
          <p:nvPr>
            <p:ph type="dt" sz="half" idx="12"/>
          </p:nvPr>
        </p:nvSpPr>
        <p:spPr>
          <a:xfrm>
            <a:off x="8229600" y="6191250"/>
            <a:ext cx="33020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BF11D6E5-B54A-4CCE-A0BA-821228565365}" type="datetime2">
              <a:rPr kumimoji="0" lang="en-US" sz="1400" b="0" i="0" u="none" strike="noStrike" kern="1200" cap="none" spc="0" normalizeH="0" baseline="0" noProof="0">
                <a:ln>
                  <a:noFill/>
                </a:ln>
                <a:solidFill>
                  <a:schemeClr val="tx2"/>
                </a:solidFill>
                <a:effectLst/>
                <a:uLnTx/>
                <a:uFillTx/>
                <a:latin typeface="+mn-lt"/>
                <a:ea typeface="+mn-ea"/>
                <a:cs typeface="+mn-cs"/>
              </a:rPr>
              <a:t>Saturday, March 7,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7" name="Footer Placeholder 5"/>
          <p:cNvSpPr>
            <a:spLocks noGrp="1"/>
          </p:cNvSpPr>
          <p:nvPr>
            <p:ph type="ftr" sz="quarter" idx="3"/>
          </p:nvPr>
        </p:nvSpPr>
        <p:spPr>
          <a:xfrm>
            <a:off x="1219200" y="6172200"/>
            <a:ext cx="52832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8" name="Slide Number Placeholder 6"/>
          <p:cNvSpPr>
            <a:spLocks noGrp="1"/>
          </p:cNvSpPr>
          <p:nvPr>
            <p:ph type="sldNum" sz="quarter" idx="4"/>
          </p:nvPr>
        </p:nvSpPr>
        <p:spPr>
          <a:xfrm>
            <a:off x="195263" y="6210300"/>
            <a:ext cx="609600" cy="457200"/>
          </a:xfrm>
          <a:prstGeom prst="ellipse">
            <a:avLst/>
          </a:prstGeom>
          <a:solidFill>
            <a:schemeClr val="bg2">
              <a:lumMod val="50000"/>
            </a:schemeClr>
          </a:solidFill>
          <a:ln>
            <a:solidFill>
              <a:schemeClr val="bg2">
                <a:lumMod val="50000"/>
              </a:schemeClr>
            </a:solidFill>
          </a:ln>
        </p:spPr>
        <p:txBody>
          <a:bodyPr vert="horz" wrap="none" lIns="0" tIns="0" rIns="0" bIns="0" numCol="1" anchor="ctr" anchorCtr="1" compatLnSpc="1">
            <a:noAutofit/>
          </a:bodyPr>
          <a:lstStyle/>
          <a:p>
            <a:pPr algn="ctr" eaLnBrk="1" hangingPunct="1">
              <a:buNone/>
            </a:pPr>
            <a:fld id="{9A0DB2DC-4C9A-4742-B13C-FB6460FD3503}" type="slidenum">
              <a:rPr lang="en-US" altLang="en-US" dirty="0">
                <a:latin typeface="Century Gothic" panose="020B0502020202020204" pitchFamily="34" charset="0"/>
              </a:rPr>
              <a:t>‹#›</a:t>
            </a:fld>
            <a:endParaRPr lang="en-US" altLang="en-US">
              <a:latin typeface="Century Gothic" panose="020B0502020202020204" pitchFamily="34" charset="0"/>
            </a:endParaRPr>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5" name="Rectangle 1"/>
          <p:cNvSpPr/>
          <p:nvPr/>
        </p:nvSpPr>
        <p:spPr>
          <a:xfrm flipV="1">
            <a:off x="90488" y="4683125"/>
            <a:ext cx="12009438"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Rectangle 3"/>
          <p:cNvSpPr/>
          <p:nvPr/>
        </p:nvSpPr>
        <p:spPr>
          <a:xfrm>
            <a:off x="92075" y="4649788"/>
            <a:ext cx="12007850"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Rectangle 4"/>
          <p:cNvSpPr/>
          <p:nvPr/>
        </p:nvSpPr>
        <p:spPr>
          <a:xfrm>
            <a:off x="92075" y="4773613"/>
            <a:ext cx="12007850" cy="49213"/>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en-US" sz="3200" b="0" i="0" u="none" strike="noStrike" kern="1200" cap="none" spc="0" normalizeH="0" baseline="0" noProof="0">
                <a:ln>
                  <a:noFill/>
                </a:ln>
                <a:solidFill>
                  <a:schemeClr val="tx1"/>
                </a:solidFill>
                <a:effectLst/>
                <a:uLnTx/>
                <a:uFillTx/>
                <a:latin typeface="+mn-lt"/>
                <a:ea typeface="+mn-ea"/>
                <a:cs typeface="+mn-cs"/>
              </a:rPr>
              <a:t>Click icon to add picture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lang="en-US"/>
              <a:t>Click to edit Master title style</a:t>
            </a:r>
          </a:p>
        </p:txBody>
      </p:sp>
      <p:sp>
        <p:nvSpPr>
          <p:cNvPr id="8" name="Date Placeholder 4"/>
          <p:cNvSpPr>
            <a:spLocks noGrp="1"/>
          </p:cNvSpPr>
          <p:nvPr>
            <p:ph type="dt" sz="half" idx="12"/>
          </p:nvPr>
        </p:nvSpPr>
        <p:spPr>
          <a:xfrm>
            <a:off x="8229600" y="6191250"/>
            <a:ext cx="33020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DF21BE8A-6250-4316-A6A8-1D760E9DEFAF}" type="datetime2">
              <a:rPr kumimoji="0" lang="en-US" sz="1400" b="0" i="0" u="none" strike="noStrike" kern="1200" cap="none" spc="0" normalizeH="0" baseline="0" noProof="0">
                <a:ln>
                  <a:noFill/>
                </a:ln>
                <a:solidFill>
                  <a:schemeClr val="tx2"/>
                </a:solidFill>
                <a:effectLst/>
                <a:uLnTx/>
                <a:uFillTx/>
                <a:latin typeface="+mn-lt"/>
                <a:ea typeface="+mn-ea"/>
                <a:cs typeface="+mn-cs"/>
              </a:rPr>
              <a:t>Saturday, March 7,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9" name="Footer Placeholder 5"/>
          <p:cNvSpPr>
            <a:spLocks noGrp="1"/>
          </p:cNvSpPr>
          <p:nvPr>
            <p:ph type="ftr" sz="quarter" idx="3"/>
          </p:nvPr>
        </p:nvSpPr>
        <p:spPr>
          <a:xfrm>
            <a:off x="1219200" y="6172200"/>
            <a:ext cx="51816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10" name="Slide Number Placeholder 6"/>
          <p:cNvSpPr>
            <a:spLocks noGrp="1"/>
          </p:cNvSpPr>
          <p:nvPr>
            <p:ph type="sldNum" sz="quarter" idx="4"/>
          </p:nvPr>
        </p:nvSpPr>
        <p:spPr>
          <a:xfrm>
            <a:off x="195263" y="6208713"/>
            <a:ext cx="609600" cy="457200"/>
          </a:xfrm>
          <a:prstGeom prst="ellipse">
            <a:avLst/>
          </a:prstGeom>
          <a:solidFill>
            <a:schemeClr val="bg2">
              <a:lumMod val="50000"/>
            </a:schemeClr>
          </a:solidFill>
          <a:ln>
            <a:solidFill>
              <a:schemeClr val="bg2">
                <a:lumMod val="50000"/>
              </a:schemeClr>
            </a:solidFill>
          </a:ln>
        </p:spPr>
        <p:txBody>
          <a:bodyPr vert="horz" wrap="none" lIns="0" tIns="0" rIns="0" bIns="0" numCol="1" anchor="ctr" anchorCtr="1" compatLnSpc="1">
            <a:noAutofit/>
          </a:bodyPr>
          <a:lstStyle/>
          <a:p>
            <a:pPr algn="ctr" eaLnBrk="1" hangingPunct="1">
              <a:buNone/>
            </a:pPr>
            <a:fld id="{9A0DB2DC-4C9A-4742-B13C-FB6460FD3503}" type="slidenum">
              <a:rPr lang="en-US" altLang="en-US" dirty="0">
                <a:latin typeface="Century Gothic" panose="020B0502020202020204" pitchFamily="34" charset="0"/>
              </a:rPr>
              <a:t>‹#›</a:t>
            </a:fld>
            <a:endParaRPr lang="en-US" altLang="en-US">
              <a:latin typeface="Century Gothic" panose="020B0502020202020204" pitchFamily="34" charset="0"/>
            </a:endParaRPr>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6B0FF2C-FCB8-44B9-B5FF-90105FB027DF}" type="datetime2">
              <a:rPr kumimoji="0" lang="en-US" sz="1400" b="0" i="0" u="none" strike="noStrike" kern="1200" cap="none" spc="0" normalizeH="0" baseline="0" noProof="0">
                <a:ln>
                  <a:noFill/>
                </a:ln>
                <a:solidFill>
                  <a:schemeClr val="tx2"/>
                </a:solidFill>
                <a:effectLst/>
                <a:uLnTx/>
                <a:uFillTx/>
                <a:latin typeface="+mn-lt"/>
                <a:ea typeface="+mn-ea"/>
                <a:cs typeface="+mn-cs"/>
              </a:rPr>
              <a:t>Saturday, March 7,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a:latin typeface="Palatino Linotype" panose="02040502050505030304" pitchFamily="18" charset="0"/>
            </a:endParaRPr>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274641"/>
            <a:ext cx="7416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8839200" y="274642"/>
            <a:ext cx="2682240" cy="5851525"/>
          </a:xfrm>
        </p:spPr>
        <p:txBody>
          <a:bodyPr vert="eaVert"/>
          <a:lstStyle/>
          <a:p>
            <a:r>
              <a:rPr lang="en-US"/>
              <a:t>Click to edit Master title style</a:t>
            </a:r>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6B0FF2C-FCB8-44B9-B5FF-90105FB027DF}" type="datetime2">
              <a:rPr kumimoji="0" lang="en-US" sz="1400" b="0" i="0" u="none" strike="noStrike" kern="1200" cap="none" spc="0" normalizeH="0" baseline="0" noProof="0">
                <a:ln>
                  <a:noFill/>
                </a:ln>
                <a:solidFill>
                  <a:schemeClr val="tx2"/>
                </a:solidFill>
                <a:effectLst/>
                <a:uLnTx/>
                <a:uFillTx/>
                <a:latin typeface="+mn-lt"/>
                <a:ea typeface="+mn-ea"/>
                <a:cs typeface="+mn-cs"/>
              </a:rPr>
              <a:t>Saturday, March 7,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a:latin typeface="Palatino Linotype" panose="02040502050505030304" pitchFamily="18" charset="0"/>
            </a:endParaRPr>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ounded Rectangle 10"/>
          <p:cNvSpPr/>
          <p:nvPr/>
        </p:nvSpPr>
        <p:spPr>
          <a:xfrm>
            <a:off x="87313"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6B0FF2C-FCB8-44B9-B5FF-90105FB027DF}" type="datetime2">
              <a:rPr kumimoji="0" lang="en-US" sz="1400" b="0" i="0" u="none" strike="noStrike" kern="1200" cap="none" spc="0" normalizeH="0" baseline="0" noProof="0">
                <a:ln>
                  <a:noFill/>
                </a:ln>
                <a:solidFill>
                  <a:schemeClr val="tx2"/>
                </a:solidFill>
                <a:effectLst/>
                <a:uLnTx/>
                <a:uFillTx/>
                <a:latin typeface="+mn-lt"/>
                <a:ea typeface="+mn-ea"/>
                <a:cs typeface="+mn-cs"/>
              </a:rPr>
              <a:t>Saturday, March 7, 2026</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Second Review</a:t>
            </a:r>
          </a:p>
        </p:txBody>
      </p:sp>
      <p:sp>
        <p:nvSpPr>
          <p:cNvPr id="23" name="Slide Number Placeholder 22"/>
          <p:cNvSpPr>
            <a:spLocks noGrp="1"/>
          </p:cNvSpPr>
          <p:nvPr>
            <p:ph type="sldNum" sz="quarter" idx="4"/>
          </p:nvPr>
        </p:nvSpPr>
        <p:spPr>
          <a:xfrm>
            <a:off x="195263" y="6210300"/>
            <a:ext cx="609600" cy="457200"/>
          </a:xfrm>
          <a:prstGeom prst="ellipse">
            <a:avLst/>
          </a:prstGeom>
          <a:solidFill>
            <a:schemeClr val="bg2">
              <a:lumMod val="50000"/>
            </a:schemeClr>
          </a:solidFill>
          <a:ln>
            <a:solidFill>
              <a:schemeClr val="bg2">
                <a:lumMod val="50000"/>
              </a:schemeClr>
            </a:solidFill>
          </a:ln>
        </p:spPr>
        <p:txBody>
          <a:bodyPr vert="horz" wrap="none" lIns="0" tIns="0" rIns="0" bIns="0" numCol="1" anchor="ctr" anchorCtr="1" compatLnSpc="1">
            <a:noAutofit/>
          </a:bodyPr>
          <a:lstStyle>
            <a:lvl1pPr algn="ctr">
              <a:defRPr sz="1400">
                <a:solidFill>
                  <a:schemeClr val="bg1"/>
                </a:solidFill>
                <a:latin typeface="Century Gothic" panose="020B0502020202020204" pitchFamily="34" charset="0"/>
              </a:defRPr>
            </a:lvl1pPr>
          </a:lstStyle>
          <a:p>
            <a:pPr lvl="0" eaLnBrk="1" hangingPunct="1">
              <a:buNone/>
            </a:pPr>
            <a:fld id="{9A0DB2DC-4C9A-4742-B13C-FB6460FD3503}" type="slidenum">
              <a:rPr lang="en-US" altLang="en-US" dirty="0"/>
              <a:t>‹#›</a:t>
            </a:fld>
            <a:endParaRPr lang="en-US" altLang="en-US">
              <a:latin typeface="Palatino Linotype" panose="02040502050505030304" pitchFamily="18" charset="0"/>
            </a:endParaRPr>
          </a:p>
        </p:txBody>
      </p:sp>
      <p:sp>
        <p:nvSpPr>
          <p:cNvPr id="1030" name="Text Placeholder 12"/>
          <p:cNvSpPr>
            <a:spLocks noGrp="1"/>
          </p:cNvSpPr>
          <p:nvPr>
            <p:ph type="body" idx="1"/>
          </p:nvPr>
        </p:nvSpPr>
        <p:spPr>
          <a:xfrm>
            <a:off x="1219200" y="1447800"/>
            <a:ext cx="10363200" cy="4572000"/>
          </a:xfrm>
          <a:prstGeom prst="rect">
            <a:avLst/>
          </a:prstGeom>
          <a:noFill/>
          <a:ln w="9525">
            <a:noFill/>
          </a:ln>
        </p:spPr>
        <p:txBody>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1" name="Title Placeholder 21"/>
          <p:cNvSpPr>
            <a:spLocks noGrp="1"/>
          </p:cNvSpPr>
          <p:nvPr>
            <p:ph type="title"/>
          </p:nvPr>
        </p:nvSpPr>
        <p:spPr>
          <a:xfrm>
            <a:off x="1219200" y="274638"/>
            <a:ext cx="10363200" cy="1143000"/>
          </a:xfrm>
          <a:prstGeom prst="rect">
            <a:avLst/>
          </a:prstGeom>
          <a:noFill/>
          <a:ln w="9525">
            <a:noFill/>
          </a:ln>
        </p:spPr>
        <p:txBody>
          <a:bodyPr bIns="91440" anchor="b" anchorCtr="0"/>
          <a:lstStyle/>
          <a:p>
            <a:pPr lvl="0"/>
            <a:r>
              <a:rPr lang="en-US" altLang="en-US"/>
              <a:t>Click to edit Master title style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fade/>
  </p:transition>
  <p:hf sldNum="0" hdr="0" ftr="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entury Gothic" panose="020B0502020202020204" pitchFamily="34" charset="0"/>
        </a:defRPr>
      </a:lvl2pPr>
      <a:lvl3pPr algn="l" rtl="0" eaLnBrk="0" fontAlgn="base" hangingPunct="0">
        <a:spcBef>
          <a:spcPct val="0"/>
        </a:spcBef>
        <a:spcAft>
          <a:spcPct val="0"/>
        </a:spcAft>
        <a:defRPr sz="4000">
          <a:solidFill>
            <a:schemeClr val="tx2"/>
          </a:solidFill>
          <a:latin typeface="Century Gothic" panose="020B0502020202020204" pitchFamily="34" charset="0"/>
        </a:defRPr>
      </a:lvl3pPr>
      <a:lvl4pPr algn="l" rtl="0" eaLnBrk="0" fontAlgn="base" hangingPunct="0">
        <a:spcBef>
          <a:spcPct val="0"/>
        </a:spcBef>
        <a:spcAft>
          <a:spcPct val="0"/>
        </a:spcAft>
        <a:defRPr sz="4000">
          <a:solidFill>
            <a:schemeClr val="tx2"/>
          </a:solidFill>
          <a:latin typeface="Century Gothic" panose="020B0502020202020204" pitchFamily="34" charset="0"/>
        </a:defRPr>
      </a:lvl4pPr>
      <a:lvl5pPr algn="l" rtl="0" eaLnBrk="0" fontAlgn="base" hangingPunct="0">
        <a:spcBef>
          <a:spcPct val="0"/>
        </a:spcBef>
        <a:spcAft>
          <a:spcPct val="0"/>
        </a:spcAft>
        <a:defRPr sz="4000">
          <a:solidFill>
            <a:schemeClr val="tx2"/>
          </a:solidFill>
          <a:latin typeface="Century Gothic" panose="020B0502020202020204" pitchFamily="34" charset="0"/>
        </a:defRPr>
      </a:lvl5pPr>
      <a:lvl6pPr marL="457200" algn="l" rtl="0" fontAlgn="base">
        <a:spcBef>
          <a:spcPct val="0"/>
        </a:spcBef>
        <a:spcAft>
          <a:spcPct val="0"/>
        </a:spcAft>
        <a:defRPr sz="4000">
          <a:solidFill>
            <a:schemeClr val="tx2"/>
          </a:solidFill>
          <a:latin typeface="Century Gothic" panose="020B0502020202020204" pitchFamily="34" charset="0"/>
        </a:defRPr>
      </a:lvl6pPr>
      <a:lvl7pPr marL="914400" algn="l" rtl="0" fontAlgn="base">
        <a:spcBef>
          <a:spcPct val="0"/>
        </a:spcBef>
        <a:spcAft>
          <a:spcPct val="0"/>
        </a:spcAft>
        <a:defRPr sz="4000">
          <a:solidFill>
            <a:schemeClr val="tx2"/>
          </a:solidFill>
          <a:latin typeface="Century Gothic" panose="020B0502020202020204" pitchFamily="34" charset="0"/>
        </a:defRPr>
      </a:lvl7pPr>
      <a:lvl8pPr marL="1371600" algn="l" rtl="0" fontAlgn="base">
        <a:spcBef>
          <a:spcPct val="0"/>
        </a:spcBef>
        <a:spcAft>
          <a:spcPct val="0"/>
        </a:spcAft>
        <a:defRPr sz="4000">
          <a:solidFill>
            <a:schemeClr val="tx2"/>
          </a:solidFill>
          <a:latin typeface="Century Gothic" panose="020B0502020202020204" pitchFamily="34" charset="0"/>
        </a:defRPr>
      </a:lvl8pPr>
      <a:lvl9pPr marL="1828800" algn="l" rtl="0" fontAlgn="base">
        <a:spcBef>
          <a:spcPct val="0"/>
        </a:spcBef>
        <a:spcAft>
          <a:spcPct val="0"/>
        </a:spcAft>
        <a:defRPr sz="4000">
          <a:solidFill>
            <a:schemeClr val="tx2"/>
          </a:solidFill>
          <a:latin typeface="Century Gothic" panose="020B0502020202020204"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render.com/docs" TargetMode="External"/><Relationship Id="rId4" Type="http://schemas.openxmlformats.org/officeDocument/2006/relationships/hyperlink" Target="https://flask.palletsprojects.com/"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95309" y="3200400"/>
            <a:ext cx="11996691" cy="3750906"/>
          </a:xfrm>
        </p:spPr>
        <p:txBody>
          <a:bodyPr vert="horz" wrap="square" lIns="91440" tIns="45720" rIns="91440" bIns="45720" numCol="1" anchor="t" anchorCtr="0" compatLnSpc="1"/>
          <a:lstStyle/>
          <a:p>
            <a:pPr marL="0" marR="0" lvl="0" indent="0" algn="ctr"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r>
              <a:rPr kumimoji="0" lang="en-US" sz="4000" b="1" i="0" u="none" strike="noStrike" kern="1200" cap="none" spc="0" normalizeH="0" baseline="0" noProof="0" dirty="0">
                <a:ln>
                  <a:noFill/>
                </a:ln>
                <a:solidFill>
                  <a:srgbClr val="00B050"/>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Presented by:</a:t>
            </a:r>
          </a:p>
          <a:p>
            <a:pPr marL="0" marR="0" lvl="0" indent="0" algn="ctr"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r>
              <a:rPr lang="en-US" sz="1800" b="1" dirty="0">
                <a:solidFill>
                  <a:schemeClr val="tx1"/>
                </a:solidFill>
                <a:latin typeface="Times New Roman" panose="02020603050405020304" pitchFamily="18" charset="0"/>
                <a:ea typeface="Microsoft Sans Serif" panose="020B0604020202020204" pitchFamily="34" charset="0"/>
                <a:cs typeface="Times New Roman" panose="02020603050405020304" pitchFamily="18" charset="0"/>
              </a:rPr>
              <a:t>B.NITHIN            (22E11A6672)</a:t>
            </a:r>
          </a:p>
          <a:p>
            <a:pPr marL="0" marR="0" lvl="0" indent="0"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r>
              <a:rPr lang="en-US" sz="1800" b="1" dirty="0">
                <a:solidFill>
                  <a:schemeClr val="tx1"/>
                </a:solidFill>
                <a:latin typeface="Times New Roman" panose="02020603050405020304" pitchFamily="18" charset="0"/>
                <a:ea typeface="Microsoft Sans Serif" panose="020B0604020202020204" pitchFamily="34" charset="0"/>
                <a:cs typeface="Times New Roman" panose="02020603050405020304" pitchFamily="18" charset="0"/>
              </a:rPr>
              <a:t>B.SARAYU          (22E11A6673)</a:t>
            </a:r>
          </a:p>
          <a:p>
            <a:pPr marL="0" marR="0" lvl="0" indent="0" algn="ctr"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r>
              <a:rPr lang="en-US" sz="1800" b="1" dirty="0">
                <a:solidFill>
                  <a:schemeClr val="tx1"/>
                </a:solidFill>
                <a:latin typeface="Times New Roman" panose="02020603050405020304" pitchFamily="18" charset="0"/>
                <a:ea typeface="Microsoft Sans Serif" panose="020B0604020202020204" pitchFamily="34" charset="0"/>
                <a:cs typeface="Times New Roman" panose="02020603050405020304" pitchFamily="18" charset="0"/>
              </a:rPr>
              <a:t>M.RAKESH        (22E11A6697)                                                                                                   </a:t>
            </a:r>
          </a:p>
          <a:p>
            <a:pPr algn="r" eaLnBrk="1" fontAlgn="auto" hangingPunct="1">
              <a:lnSpc>
                <a:spcPct val="120000"/>
              </a:lnSpc>
              <a:spcBef>
                <a:spcPts val="580"/>
              </a:spcBef>
              <a:spcAft>
                <a:spcPts val="0"/>
              </a:spcAft>
              <a:defRPr/>
            </a:pPr>
            <a:r>
              <a:rPr lang="en-US" sz="1800" b="1" dirty="0">
                <a:solidFill>
                  <a:schemeClr val="tx1"/>
                </a:solidFill>
                <a:latin typeface="Times New Roman"/>
                <a:ea typeface="Microsoft Sans Serif"/>
                <a:cs typeface="Times New Roman"/>
              </a:rPr>
              <a:t>                                                                          </a:t>
            </a:r>
            <a:r>
              <a:rPr lang="en-US" sz="1800" b="1" i="1" dirty="0">
                <a:solidFill>
                  <a:schemeClr val="tx1"/>
                </a:solidFill>
                <a:latin typeface="Times New Roman"/>
                <a:ea typeface="Microsoft Sans Serif"/>
                <a:cs typeface="Times New Roman"/>
              </a:rPr>
              <a:t>                                                                            </a:t>
            </a:r>
            <a:r>
              <a:rPr kumimoji="0" lang="en-US" sz="2400" b="1" i="1" u="none" strike="noStrike" kern="1200" cap="none" spc="0" normalizeH="0" baseline="0" noProof="0" dirty="0">
                <a:ln>
                  <a:noFill/>
                </a:ln>
                <a:solidFill>
                  <a:srgbClr val="00B050"/>
                </a:solidFill>
                <a:effectLst/>
                <a:uLnTx/>
                <a:uFillTx/>
                <a:latin typeface="Times New Roman"/>
                <a:ea typeface="Microsoft Sans Serif"/>
                <a:cs typeface="Times New Roman"/>
              </a:rPr>
              <a:t>Under the</a:t>
            </a:r>
            <a:r>
              <a:rPr lang="en-US" sz="2400" b="1" i="1" dirty="0">
                <a:solidFill>
                  <a:srgbClr val="00B050"/>
                </a:solidFill>
                <a:latin typeface="Times New Roman"/>
                <a:ea typeface="Microsoft Sans Serif"/>
                <a:cs typeface="Times New Roman"/>
              </a:rPr>
              <a:t> </a:t>
            </a:r>
            <a:r>
              <a:rPr kumimoji="0" lang="en-US" sz="2400" b="1" i="1" u="none" strike="noStrike" kern="1200" cap="none" spc="0" normalizeH="0" baseline="0" noProof="0" dirty="0">
                <a:ln>
                  <a:noFill/>
                </a:ln>
                <a:solidFill>
                  <a:srgbClr val="00B050"/>
                </a:solidFill>
                <a:effectLst/>
                <a:uLnTx/>
                <a:uFillTx/>
                <a:latin typeface="Times New Roman"/>
                <a:ea typeface="Microsoft Sans Serif"/>
                <a:cs typeface="Times New Roman"/>
              </a:rPr>
              <a:t>guidance of</a:t>
            </a:r>
            <a:r>
              <a:rPr lang="en-US" sz="2400" b="1" i="1" dirty="0">
                <a:solidFill>
                  <a:srgbClr val="00B050"/>
                </a:solidFill>
                <a:latin typeface="Times New Roman"/>
                <a:ea typeface="Microsoft Sans Serif"/>
                <a:cs typeface="Times New Roman"/>
              </a:rPr>
              <a:t>     </a:t>
            </a:r>
            <a:endParaRPr lang="en-US" sz="2400" b="1" i="1" u="none" strike="noStrike" kern="1200" cap="none" spc="0" normalizeH="0" baseline="0" noProof="0" dirty="0">
              <a:ln>
                <a:noFill/>
              </a:ln>
              <a:solidFill>
                <a:srgbClr val="00B050"/>
              </a:solidFill>
              <a:effectLst/>
              <a:uLnTx/>
              <a:uFillTx/>
              <a:latin typeface="Times New Roman"/>
              <a:ea typeface="Microsoft Sans Serif"/>
              <a:cs typeface="Times New Roman"/>
            </a:endParaRPr>
          </a:p>
          <a:p>
            <a:pPr algn="r" eaLnBrk="1" fontAlgn="auto" hangingPunct="1">
              <a:lnSpc>
                <a:spcPct val="120000"/>
              </a:lnSpc>
              <a:spcBef>
                <a:spcPts val="580"/>
              </a:spcBef>
              <a:spcAft>
                <a:spcPts val="0"/>
              </a:spcAft>
              <a:defRPr/>
            </a:pPr>
            <a:r>
              <a:rPr lang="en-US" sz="1600" b="1" i="1" dirty="0">
                <a:solidFill>
                  <a:srgbClr val="00B050"/>
                </a:solidFill>
                <a:latin typeface="Times New Roman"/>
                <a:ea typeface="Microsoft Sans Serif"/>
                <a:cs typeface="Times New Roman"/>
              </a:rPr>
              <a:t>                                                                                                                                                                         </a:t>
            </a:r>
            <a:r>
              <a:rPr lang="en-US" sz="1600" b="1" i="1" dirty="0" err="1">
                <a:solidFill>
                  <a:srgbClr val="002060"/>
                </a:solidFill>
                <a:latin typeface="Times New Roman"/>
                <a:ea typeface="Microsoft Sans Serif"/>
                <a:cs typeface="Times New Roman"/>
              </a:rPr>
              <a:t>Mrs</a:t>
            </a:r>
            <a:r>
              <a:rPr lang="en-US" sz="1600" b="1" i="1" dirty="0">
                <a:solidFill>
                  <a:srgbClr val="002060"/>
                </a:solidFill>
                <a:latin typeface="Times New Roman"/>
                <a:ea typeface="Microsoft Sans Serif"/>
                <a:cs typeface="Times New Roman"/>
              </a:rPr>
              <a:t> Syeda Hafsa Naaz               </a:t>
            </a:r>
            <a:endParaRPr lang="en-US" sz="1600" b="1" i="1" u="none" strike="noStrike" kern="1200" cap="none" spc="0" normalizeH="0" baseline="0" noProof="0" dirty="0">
              <a:ln>
                <a:noFill/>
              </a:ln>
              <a:solidFill>
                <a:srgbClr val="002060"/>
              </a:solidFill>
              <a:effectLst/>
              <a:uLnTx/>
              <a:uFillTx/>
              <a:latin typeface="Times New Roman"/>
              <a:ea typeface="Microsoft Sans Serif"/>
              <a:cs typeface="Times New Roman"/>
            </a:endParaRPr>
          </a:p>
          <a:p>
            <a:pPr algn="r" eaLnBrk="1" fontAlgn="auto" hangingPunct="1">
              <a:lnSpc>
                <a:spcPct val="120000"/>
              </a:lnSpc>
              <a:spcBef>
                <a:spcPts val="580"/>
              </a:spcBef>
              <a:spcAft>
                <a:spcPts val="0"/>
              </a:spcAft>
              <a:defRPr/>
            </a:pPr>
            <a:r>
              <a:rPr lang="en-US" sz="1600" b="1" i="1" dirty="0">
                <a:solidFill>
                  <a:srgbClr val="002060"/>
                </a:solidFill>
                <a:latin typeface="Times New Roman"/>
                <a:ea typeface="Microsoft Sans Serif"/>
                <a:cs typeface="Times New Roman"/>
              </a:rPr>
              <a:t>                                                                                                                                                                       Assistant Professor                  </a:t>
            </a:r>
            <a:endParaRPr lang="en-US" sz="1600" b="1" i="1" u="none" strike="noStrike" kern="1200" cap="none" spc="0" normalizeH="0" baseline="0" noProof="0" dirty="0">
              <a:ln>
                <a:noFill/>
              </a:ln>
              <a:solidFill>
                <a:srgbClr val="002060"/>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algn="r" eaLnBrk="1" fontAlgn="auto" hangingPunct="1">
              <a:lnSpc>
                <a:spcPct val="120000"/>
              </a:lnSpc>
              <a:spcBef>
                <a:spcPts val="580"/>
              </a:spcBef>
              <a:spcAft>
                <a:spcPts val="0"/>
              </a:spcAft>
              <a:defRPr/>
            </a:pPr>
            <a:r>
              <a:rPr kumimoji="0" lang="en-US" sz="1600" b="1" i="1" u="none" strike="noStrike" kern="1200" cap="none" spc="0" normalizeH="0" baseline="0" noProof="0" dirty="0">
                <a:ln>
                  <a:noFill/>
                </a:ln>
                <a:solidFill>
                  <a:srgbClr val="002060"/>
                </a:solidFill>
                <a:effectLst/>
                <a:uLnTx/>
                <a:uFillTx/>
                <a:latin typeface="Times New Roman"/>
                <a:ea typeface="Microsoft Sans Serif"/>
                <a:cs typeface="Times New Roman"/>
              </a:rPr>
              <a:t>                                                                                                                                                                     </a:t>
            </a:r>
            <a:r>
              <a:rPr kumimoji="0" lang="en-US" sz="1600" b="1" i="1" u="none" strike="noStrike" kern="1200" cap="none" spc="0" normalizeH="0" baseline="0" noProof="0" dirty="0">
                <a:ln>
                  <a:noFill/>
                </a:ln>
                <a:effectLst/>
                <a:uLnTx/>
                <a:uFillTx/>
                <a:latin typeface="Times New Roman"/>
                <a:ea typeface="Microsoft Sans Serif"/>
                <a:cs typeface="Times New Roman"/>
              </a:rPr>
              <a:t>  Department of CSE(AI&amp;ML)</a:t>
            </a:r>
            <a:r>
              <a:rPr lang="en-US" sz="1600" b="1" i="1" dirty="0">
                <a:latin typeface="Times New Roman"/>
                <a:ea typeface="Microsoft Sans Serif"/>
                <a:cs typeface="Times New Roman"/>
              </a:rPr>
              <a:t>       </a:t>
            </a:r>
          </a:p>
          <a:p>
            <a:pPr marL="0" marR="0" lvl="0" indent="0" algn="r"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endParaRPr lang="en-US" sz="1600" b="1" i="1" u="none" strike="noStrike" kern="1200" cap="none" spc="0" normalizeH="0" baseline="0" noProof="0" dirty="0">
              <a:ln>
                <a:noFill/>
              </a:ln>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9219" name="Title 2"/>
          <p:cNvSpPr>
            <a:spLocks noGrp="1"/>
          </p:cNvSpPr>
          <p:nvPr>
            <p:ph type="ctrTitle"/>
          </p:nvPr>
        </p:nvSpPr>
        <p:spPr>
          <a:xfrm>
            <a:off x="609600" y="1506538"/>
            <a:ext cx="10972800" cy="1470025"/>
          </a:xfrm>
        </p:spPr>
        <p:txBody>
          <a:bodyPr vert="horz" wrap="square" lIns="91440" tIns="45720" rIns="91440" bIns="91440" anchor="ctr" anchorCtr="0"/>
          <a:lstStyle/>
          <a:p>
            <a:pPr>
              <a:buClrTx/>
              <a:buSzTx/>
              <a:buFontTx/>
            </a:pPr>
            <a:r>
              <a:rPr lang="en-US" altLang="en-IN">
                <a:latin typeface="Times New Roman" panose="02020603050405020304" pitchFamily="18" charset="0"/>
                <a:ea typeface="Times New Roman" panose="02020603050405020304" pitchFamily="18" charset="0"/>
              </a:rPr>
              <a:t>AUCTION SPHERE – ONLINE AUCTION PLATFORM</a:t>
            </a:r>
            <a:endParaRPr altLang="en-IN" kern="1200">
              <a:latin typeface="Times New Roman" panose="02020603050405020304" pitchFamily="18" charset="0"/>
              <a:ea typeface="Times New Roman" panose="02020603050405020304" pitchFamily="18" charset="0"/>
              <a:cs typeface="+mj-cs"/>
            </a:endParaRPr>
          </a:p>
        </p:txBody>
      </p:sp>
      <p:pic>
        <p:nvPicPr>
          <p:cNvPr id="9220" name="Google Shape;22642;p14" descr="BIET-Bharat Institute of Engineering and Technology"/>
          <p:cNvPicPr preferRelativeResize="0">
            <a:picLocks noChangeAspect="1"/>
          </p:cNvPicPr>
          <p:nvPr/>
        </p:nvPicPr>
        <p:blipFill>
          <a:blip r:embed="rId2"/>
          <a:stretch>
            <a:fillRect/>
          </a:stretch>
        </p:blipFill>
        <p:spPr>
          <a:xfrm>
            <a:off x="11049000" y="204788"/>
            <a:ext cx="584200" cy="520700"/>
          </a:xfrm>
          <a:prstGeom prst="rect">
            <a:avLst/>
          </a:prstGeom>
          <a:noFill/>
          <a:ln w="9525">
            <a:noFill/>
          </a:ln>
        </p:spPr>
      </p:pic>
      <p:pic>
        <p:nvPicPr>
          <p:cNvPr id="3" name="Google Shape;22642;p14" descr="BIET-Bharat Institute of Engineering and Technology"/>
          <p:cNvPicPr preferRelativeResize="0">
            <a:picLocks noChangeAspect="1"/>
          </p:cNvPicPr>
          <p:nvPr/>
        </p:nvPicPr>
        <p:blipFill>
          <a:blip r:embed="rId2"/>
          <a:stretch>
            <a:fillRect/>
          </a:stretch>
        </p:blipFill>
        <p:spPr>
          <a:xfrm flipH="1">
            <a:off x="11031747" y="230667"/>
            <a:ext cx="550653" cy="520700"/>
          </a:xfrm>
          <a:prstGeom prst="rect">
            <a:avLst/>
          </a:prstGeom>
          <a:noFill/>
          <a:ln w="9525">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Date Placeholder 10"/>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r>
              <a:rPr lang="en-US" altLang="en-US" sz="1400" dirty="0">
                <a:solidFill>
                  <a:schemeClr val="tx2"/>
                </a:solidFill>
              </a:rPr>
              <a:t>Date:07-03-2026</a:t>
            </a:r>
          </a:p>
        </p:txBody>
      </p:sp>
      <p:sp>
        <p:nvSpPr>
          <p:cNvPr id="13" name="Slide Number Placeholder 12"/>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t>2</a:t>
            </a:fld>
            <a:endParaRPr lang="en-US" altLang="en-US" sz="1400">
              <a:solidFill>
                <a:schemeClr val="bg1"/>
              </a:solidFill>
              <a:latin typeface="Century Gothic" panose="020B0502020202020204" pitchFamily="34" charset="0"/>
            </a:endParaRPr>
          </a:p>
        </p:txBody>
      </p:sp>
      <p:sp>
        <p:nvSpPr>
          <p:cNvPr id="3" name="Content Placeholder 2"/>
          <p:cNvSpPr>
            <a:spLocks noGrp="1"/>
          </p:cNvSpPr>
          <p:nvPr>
            <p:ph sz="quarter" idx="1"/>
          </p:nvPr>
        </p:nvSpPr>
        <p:spPr>
          <a:xfrm>
            <a:off x="1219200" y="1081088"/>
            <a:ext cx="9496425" cy="5072063"/>
          </a:xfrm>
        </p:spPr>
        <p:txBody>
          <a:bodyPr vert="horz" wrap="square" lIns="91440" tIns="45720" rIns="91440" bIns="45720" numCol="1" anchor="t" anchorCtr="0" compatLnSpc="1">
            <a:normAutofit fontScale="32500" lnSpcReduction="20000"/>
          </a:bodyPr>
          <a:lstStyle/>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endParaRPr kumimoji="0" lang="en-IN" sz="33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r>
              <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ABSTRACT</a:t>
            </a:r>
          </a:p>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r>
              <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INTRODUCTION</a:t>
            </a:r>
          </a:p>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r>
              <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LITERATURE REVIEW</a:t>
            </a:r>
          </a:p>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r>
              <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OBJECTIVE</a:t>
            </a:r>
          </a:p>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r>
              <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FUNCTIONAL LAYOUT</a:t>
            </a:r>
          </a:p>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r>
              <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METHODOLOGY</a:t>
            </a:r>
          </a:p>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r>
              <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IMPLEMENTATION</a:t>
            </a:r>
          </a:p>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r>
              <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RESULTS/WORKING</a:t>
            </a:r>
          </a:p>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r>
              <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REFERENCES</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endParaRPr kumimoji="0" lang="en-IN" sz="26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Title 1"/>
          <p:cNvSpPr>
            <a:spLocks noGrp="1"/>
          </p:cNvSpPr>
          <p:nvPr>
            <p:ph type="title"/>
          </p:nvPr>
        </p:nvSpPr>
        <p:spPr>
          <a:xfrm>
            <a:off x="358775" y="176213"/>
            <a:ext cx="11553825" cy="1066800"/>
          </a:xfrm>
        </p:spPr>
        <p:txBody>
          <a:bodyPr vert="horz" wrap="square" lIns="91440" tIns="45720" rIns="91440" bIns="91440" numCol="1" anchor="b" anchorCtr="0" compatLnSpc="1">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IN" sz="4000" b="0" i="0" u="none" strike="noStrike" kern="1200" cap="none" spc="0" normalizeH="0" baseline="0" noProof="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Outline</a:t>
            </a:r>
            <a:endParaRPr kumimoji="0" lang="en-IN" sz="4000" b="0" i="0" u="none" strike="noStrike" kern="1200" cap="none" spc="0" normalizeH="0" baseline="0" noProof="0">
              <a:ln>
                <a:noFill/>
              </a:ln>
              <a:solidFill>
                <a:schemeClr val="bg2">
                  <a:lumMod val="50000"/>
                </a:schemeClr>
              </a:solidFill>
              <a:effectLst/>
              <a:uLnTx/>
              <a:uFillTx/>
              <a:latin typeface="Times New Roman" panose="02020603050405020304" pitchFamily="18" charset="0"/>
              <a:ea typeface="+mj-ea"/>
              <a:cs typeface="Times New Roman" panose="02020603050405020304" pitchFamily="18" charset="0"/>
            </a:endParaRPr>
          </a:p>
        </p:txBody>
      </p:sp>
      <p:sp>
        <p:nvSpPr>
          <p:cNvPr id="10246" name="Footer Placeholder 11"/>
          <p:cNvSpPr txBox="1"/>
          <p:nvPr/>
        </p:nvSpPr>
        <p:spPr>
          <a:xfrm>
            <a:off x="966788" y="6400800"/>
            <a:ext cx="5283200" cy="457200"/>
          </a:xfrm>
          <a:prstGeom prst="rect">
            <a:avLst/>
          </a:prstGeom>
          <a:noFill/>
          <a:ln w="9525">
            <a:noFill/>
          </a:ln>
        </p:spPr>
        <p:txBody>
          <a:bodyPr anchor="ctr" anchorCtr="0"/>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en-US" altLang="en-US" sz="1400">
              <a:solidFill>
                <a:schemeClr val="tx2"/>
              </a:solidFill>
            </a:endParaRPr>
          </a:p>
        </p:txBody>
      </p:sp>
      <p:sp>
        <p:nvSpPr>
          <p:cNvPr id="4" name="Footer Placeholder 3"/>
          <p:cNvSpPr txBox="1">
            <a:spLocks noGrp="1"/>
          </p:cNvSpPr>
          <p:nvPr>
            <p:ph type="ftr" sz="quarter" idx="11"/>
          </p:nvPr>
        </p:nvSpPr>
        <p:spPr>
          <a:noFill/>
        </p:spPr>
        <p:txBody>
          <a:bodyPr anchor="ctr" anchorCtr="0"/>
          <a:lstStyle/>
          <a:p>
            <a:pPr lvl="0">
              <a:defRPr/>
            </a:pPr>
            <a:r>
              <a:rPr lang="en-IN" altLang="en-US" dirty="0"/>
              <a:t>FIRST REVIEW</a:t>
            </a:r>
            <a:r>
              <a:rPr lang="en-US" dirty="0"/>
              <a:t> – PROJECT STAGE 2</a:t>
            </a:r>
          </a:p>
        </p:txBody>
      </p:sp>
      <p:pic>
        <p:nvPicPr>
          <p:cNvPr id="10248" name="Google Shape;22642;p14" descr="BIET-Bharat Institute of Engineering and Technology"/>
          <p:cNvPicPr preferRelativeResize="0">
            <a:picLocks noChangeAspect="1"/>
          </p:cNvPicPr>
          <p:nvPr/>
        </p:nvPicPr>
        <p:blipFill>
          <a:blip r:embed="rId3"/>
          <a:stretch>
            <a:fillRect/>
          </a:stretch>
        </p:blipFill>
        <p:spPr>
          <a:xfrm>
            <a:off x="11049000" y="204788"/>
            <a:ext cx="584200" cy="520700"/>
          </a:xfrm>
          <a:prstGeom prst="rect">
            <a:avLst/>
          </a:prstGeom>
          <a:noFill/>
          <a:ln w="9525">
            <a:noFill/>
          </a:ln>
        </p:spPr>
      </p:pic>
      <p:pic>
        <p:nvPicPr>
          <p:cNvPr id="5" name="Google Shape;22642;p14" descr="BIET-Bharat Institute of Engineering and Technology"/>
          <p:cNvPicPr preferRelativeResize="0">
            <a:picLocks noChangeAspect="1"/>
          </p:cNvPicPr>
          <p:nvPr/>
        </p:nvPicPr>
        <p:blipFill>
          <a:blip r:embed="rId3"/>
          <a:stretch>
            <a:fillRect/>
          </a:stretch>
        </p:blipFill>
        <p:spPr>
          <a:xfrm flipH="1">
            <a:off x="11031747" y="222041"/>
            <a:ext cx="550653" cy="520700"/>
          </a:xfrm>
          <a:prstGeom prst="rect">
            <a:avLst/>
          </a:prstGeom>
          <a:noFill/>
          <a:ln w="9525">
            <a:noFill/>
          </a:ln>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
          </p:nvPr>
        </p:nvSpPr>
        <p:spPr>
          <a:xfrm>
            <a:off x="316561" y="1602641"/>
            <a:ext cx="11790784" cy="4706407"/>
          </a:xfrm>
        </p:spPr>
        <p:txBody>
          <a:bodyPr vert="horz" wrap="square" lIns="91440" tIns="45720" rIns="91440" bIns="45720" numCol="1" anchor="t" anchorCtr="0" compatLnSpc="1"/>
          <a:lstStyle/>
          <a:p>
            <a:pPr marL="0" lvl="0" indent="0">
              <a:buNone/>
              <a:defRPr/>
            </a:pPr>
            <a:endParaRPr kumimoji="0" lang="en-US" altLang="en-US" sz="1600" b="0" i="0" u="none" strike="noStrike" kern="1200" cap="none"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endParaRPr>
          </a:p>
          <a:p>
            <a:pPr lvl="0">
              <a:defRPr/>
            </a:pPr>
            <a:endParaRPr kumimoji="0" lang="en-US" altLang="en-US" sz="1600" b="0" i="0" u="none" strike="noStrike" kern="1200" cap="none"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a:xfrm>
            <a:off x="-390617" y="-532660"/>
            <a:ext cx="12582617" cy="1828800"/>
          </a:xfrm>
        </p:spPr>
        <p:txBody>
          <a:bodyPr vert="horz" wrap="square" lIns="91440" tIns="45720" rIns="91440" bIns="9144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4400" b="0" i="0" u="none" strike="noStrike" kern="1200" cap="none" spc="0" normalizeH="0" baseline="0" noProof="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Abstract</a:t>
            </a:r>
            <a:endParaRPr kumimoji="0" lang="en-IN" sz="4400" b="0" i="0" u="none" strike="noStrike" kern="1200" cap="none" spc="0" normalizeH="0" baseline="0" noProof="0">
              <a:ln>
                <a:noFill/>
              </a:ln>
              <a:solidFill>
                <a:schemeClr val="tx2"/>
              </a:solidFill>
              <a:effectLst/>
              <a:uLnTx/>
              <a:uFillTx/>
              <a:latin typeface="+mj-lt"/>
              <a:ea typeface="+mj-ea"/>
              <a:cs typeface="+mj-cs"/>
            </a:endParaRPr>
          </a:p>
        </p:txBody>
      </p:sp>
      <p:sp>
        <p:nvSpPr>
          <p:cNvPr id="4" name="Date Placeholder 3"/>
          <p:cNvSpPr txBox="1">
            <a:spLocks noGrp="1"/>
          </p:cNvSpPr>
          <p:nvPr>
            <p:ph type="dt" sz="half" idx="10"/>
          </p:nvPr>
        </p:nvSpPr>
        <p:spPr>
          <a:noFill/>
        </p:spPr>
        <p:txBody>
          <a:bodyPr anchor="ctr" anchorCtr="0"/>
          <a:lstStyle/>
          <a:p>
            <a:pPr lvl="0" algn="ctr" eaLnBrk="1" hangingPunct="1"/>
            <a:r>
              <a:rPr lang="en-US" altLang="en-US">
                <a:sym typeface="+mn-ea"/>
              </a:rPr>
              <a:t>Date:07-03-2026</a:t>
            </a: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6" name="Slide Number Placeholder 5"/>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t>3</a:t>
            </a:fld>
            <a:endParaRPr lang="en-US" altLang="en-US" sz="1400">
              <a:solidFill>
                <a:schemeClr val="bg1"/>
              </a:solidFill>
              <a:latin typeface="Century Gothic" panose="020B0502020202020204" pitchFamily="34" charset="0"/>
            </a:endParaRPr>
          </a:p>
        </p:txBody>
      </p:sp>
      <p:sp>
        <p:nvSpPr>
          <p:cNvPr id="5" name="Footer Placeholder 4"/>
          <p:cNvSpPr txBox="1">
            <a:spLocks noGrp="1"/>
          </p:cNvSpPr>
          <p:nvPr>
            <p:ph type="ftr" sz="quarter" idx="11"/>
          </p:nvPr>
        </p:nvSpPr>
        <p:spPr>
          <a:xfrm>
            <a:off x="1219200" y="6210300"/>
            <a:ext cx="5283200" cy="457200"/>
          </a:xfrm>
          <a:noFill/>
        </p:spPr>
        <p:txBody>
          <a:bodyPr anchor="ctr" anchorCtr="0"/>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IN" altLang="en-US" sz="1400" u="none" strike="noStrike" kern="1200" cap="none" spc="0" normalizeH="0" baseline="0" noProof="0" dirty="0">
                <a:ln>
                  <a:noFill/>
                </a:ln>
                <a:effectLst/>
                <a:uLnTx/>
                <a:uFillTx/>
                <a:latin typeface="+mn-lt"/>
                <a:ea typeface="+mn-ea"/>
                <a:cs typeface="+mn-cs"/>
              </a:rPr>
              <a:t>FIRST REVIEW</a:t>
            </a:r>
            <a:r>
              <a:rPr kumimoji="0" lang="en-US" sz="1400" u="none" strike="noStrike" kern="1200" cap="none" spc="0" normalizeH="0" baseline="0" noProof="0" dirty="0">
                <a:ln>
                  <a:noFill/>
                </a:ln>
                <a:effectLst/>
                <a:uLnTx/>
                <a:uFillTx/>
                <a:latin typeface="+mn-lt"/>
                <a:ea typeface="+mn-ea"/>
                <a:cs typeface="+mn-cs"/>
              </a:rPr>
              <a:t> </a:t>
            </a:r>
            <a:r>
              <a:rPr kumimoji="0" lang="en-US" sz="1400" b="0" i="0" u="none" strike="noStrike" kern="1200" cap="none" spc="0" normalizeH="0" baseline="0" noProof="0" dirty="0">
                <a:ln>
                  <a:noFill/>
                </a:ln>
                <a:solidFill>
                  <a:schemeClr val="tx2"/>
                </a:solidFill>
                <a:effectLst/>
                <a:uLnTx/>
                <a:uFillTx/>
                <a:latin typeface="+mn-lt"/>
                <a:ea typeface="+mn-ea"/>
                <a:cs typeface="+mn-cs"/>
              </a:rPr>
              <a:t>– PROJECT STAGE 2</a:t>
            </a:r>
          </a:p>
        </p:txBody>
      </p:sp>
      <p:pic>
        <p:nvPicPr>
          <p:cNvPr id="12295" name="Google Shape;22642;p14" descr="BIET-Bharat Institute of Engineering and Technology"/>
          <p:cNvPicPr preferRelativeResize="0">
            <a:picLocks noChangeAspect="1"/>
          </p:cNvPicPr>
          <p:nvPr/>
        </p:nvPicPr>
        <p:blipFill>
          <a:blip r:embed="rId2"/>
          <a:stretch>
            <a:fillRect/>
          </a:stretch>
        </p:blipFill>
        <p:spPr>
          <a:xfrm>
            <a:off x="11049000" y="204788"/>
            <a:ext cx="584200" cy="520700"/>
          </a:xfrm>
          <a:prstGeom prst="rect">
            <a:avLst/>
          </a:prstGeom>
          <a:noFill/>
          <a:ln w="9525">
            <a:noFill/>
          </a:ln>
        </p:spPr>
      </p:pic>
      <p:pic>
        <p:nvPicPr>
          <p:cNvPr id="7" name="Google Shape;22642;p14" descr="BIET-Bharat Institute of Engineering and Technology"/>
          <p:cNvPicPr preferRelativeResize="0">
            <a:picLocks noChangeAspect="1"/>
          </p:cNvPicPr>
          <p:nvPr/>
        </p:nvPicPr>
        <p:blipFill>
          <a:blip r:embed="rId2"/>
          <a:stretch>
            <a:fillRect/>
          </a:stretch>
        </p:blipFill>
        <p:spPr>
          <a:xfrm flipH="1">
            <a:off x="11031747" y="222041"/>
            <a:ext cx="550653" cy="520700"/>
          </a:xfrm>
          <a:prstGeom prst="rect">
            <a:avLst/>
          </a:prstGeom>
          <a:noFill/>
          <a:ln w="9525">
            <a:noFill/>
          </a:ln>
        </p:spPr>
      </p:pic>
      <p:sp>
        <p:nvSpPr>
          <p:cNvPr id="8" name="TextBox 7">
            <a:extLst>
              <a:ext uri="{FF2B5EF4-FFF2-40B4-BE49-F238E27FC236}">
                <a16:creationId xmlns:a16="http://schemas.microsoft.com/office/drawing/2014/main" id="{09887082-95C0-2E90-4A1A-7B37C689B5BF}"/>
              </a:ext>
            </a:extLst>
          </p:cNvPr>
          <p:cNvSpPr txBox="1"/>
          <p:nvPr/>
        </p:nvSpPr>
        <p:spPr>
          <a:xfrm>
            <a:off x="894735" y="1662608"/>
            <a:ext cx="10038736" cy="3970318"/>
          </a:xfrm>
          <a:prstGeom prst="rect">
            <a:avLst/>
          </a:prstGeom>
          <a:noFill/>
          <a:ln>
            <a:solidFill>
              <a:schemeClr val="bg1"/>
            </a:solidFill>
          </a:ln>
        </p:spPr>
        <p:txBody>
          <a:bodyPr wrap="square" rtlCol="0" anchor="ctr" anchorCtr="1">
            <a:spAutoFit/>
          </a:bodyPr>
          <a:lstStyle/>
          <a:p>
            <a:pPr algn="just"/>
            <a:r>
              <a:rPr lang="en-IN" dirty="0" err="1">
                <a:latin typeface="Times New Roman" panose="02020603050405020304" pitchFamily="18" charset="0"/>
                <a:cs typeface="Times New Roman" panose="02020603050405020304" pitchFamily="18" charset="0"/>
              </a:rPr>
              <a:t>AuctionSphere</a:t>
            </a:r>
            <a:r>
              <a:rPr lang="en-IN" dirty="0">
                <a:latin typeface="Times New Roman" panose="02020603050405020304" pitchFamily="18" charset="0"/>
                <a:cs typeface="Times New Roman" panose="02020603050405020304" pitchFamily="18" charset="0"/>
              </a:rPr>
              <a:t> is a modern </a:t>
            </a:r>
            <a:r>
              <a:rPr lang="en-IN" b="1" dirty="0">
                <a:latin typeface="Times New Roman" panose="02020603050405020304" pitchFamily="18" charset="0"/>
                <a:cs typeface="Times New Roman" panose="02020603050405020304" pitchFamily="18" charset="0"/>
              </a:rPr>
              <a:t>online auction platform</a:t>
            </a:r>
            <a:r>
              <a:rPr lang="en-IN" dirty="0">
                <a:latin typeface="Times New Roman" panose="02020603050405020304" pitchFamily="18" charset="0"/>
                <a:cs typeface="Times New Roman" panose="02020603050405020304" pitchFamily="18" charset="0"/>
              </a:rPr>
              <a:t> designed to enable secure, transparent, and real-time bidding between buyers and sellers over the web. The platform allows users to list products for auction, place competitive bids, track live auction status, and receive instant notifications about bid updates and auction results. Unlike traditional fixed-price e-commerce systems, </a:t>
            </a:r>
            <a:r>
              <a:rPr lang="en-IN" dirty="0" err="1">
                <a:latin typeface="Times New Roman" panose="02020603050405020304" pitchFamily="18" charset="0"/>
                <a:cs typeface="Times New Roman" panose="02020603050405020304" pitchFamily="18" charset="0"/>
              </a:rPr>
              <a:t>AuctionSphere</a:t>
            </a:r>
            <a:r>
              <a:rPr lang="en-IN" dirty="0">
                <a:latin typeface="Times New Roman" panose="02020603050405020304" pitchFamily="18" charset="0"/>
                <a:cs typeface="Times New Roman" panose="02020603050405020304" pitchFamily="18" charset="0"/>
              </a:rPr>
              <a:t> emphasizes </a:t>
            </a:r>
            <a:r>
              <a:rPr lang="en-IN" b="1" dirty="0">
                <a:latin typeface="Times New Roman" panose="02020603050405020304" pitchFamily="18" charset="0"/>
                <a:cs typeface="Times New Roman" panose="02020603050405020304" pitchFamily="18" charset="0"/>
              </a:rPr>
              <a:t>dynamic pricing</a:t>
            </a:r>
            <a:r>
              <a:rPr lang="en-IN" dirty="0">
                <a:latin typeface="Times New Roman" panose="02020603050405020304" pitchFamily="18" charset="0"/>
                <a:cs typeface="Times New Roman" panose="02020603050405020304" pitchFamily="18" charset="0"/>
              </a:rPr>
              <a:t>, encouraging fair market value through competitive bidding.</a:t>
            </a:r>
          </a:p>
          <a:p>
            <a:pPr algn="just"/>
            <a:r>
              <a:rPr lang="en-IN" dirty="0">
                <a:latin typeface="Times New Roman" panose="02020603050405020304" pitchFamily="18" charset="0"/>
                <a:cs typeface="Times New Roman" panose="02020603050405020304" pitchFamily="18" charset="0"/>
              </a:rPr>
              <a:t>The system includes core functionalities such as </a:t>
            </a:r>
            <a:r>
              <a:rPr lang="en-IN" b="1" dirty="0">
                <a:latin typeface="Times New Roman" panose="02020603050405020304" pitchFamily="18" charset="0"/>
                <a:cs typeface="Times New Roman" panose="02020603050405020304" pitchFamily="18" charset="0"/>
              </a:rPr>
              <a:t>user authentication</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product listing management</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real-time bidding</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auction scheduling</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winner determination</a:t>
            </a:r>
            <a:r>
              <a:rPr lang="en-IN" dirty="0">
                <a:latin typeface="Times New Roman" panose="02020603050405020304" pitchFamily="18" charset="0"/>
                <a:cs typeface="Times New Roman" panose="02020603050405020304" pitchFamily="18" charset="0"/>
              </a:rPr>
              <a:t>. Advanced features like bid history tracking, automated bid validation, anti-sniping mechanisms (time extensions for last-second bids), and secure payment integration ensure reliability and trust. The backend manages auction logic, bid consistency, and data security, while the frontend delivers an intuitive and responsive user experience.</a:t>
            </a:r>
          </a:p>
          <a:p>
            <a:pPr algn="just"/>
            <a:r>
              <a:rPr lang="en-IN" dirty="0" err="1">
                <a:latin typeface="Times New Roman" panose="02020603050405020304" pitchFamily="18" charset="0"/>
                <a:cs typeface="Times New Roman" panose="02020603050405020304" pitchFamily="18" charset="0"/>
              </a:rPr>
              <a:t>AuctionSphere</a:t>
            </a:r>
            <a:r>
              <a:rPr lang="en-IN" dirty="0">
                <a:latin typeface="Times New Roman" panose="02020603050405020304" pitchFamily="18" charset="0"/>
                <a:cs typeface="Times New Roman" panose="02020603050405020304" pitchFamily="18" charset="0"/>
              </a:rPr>
              <a:t> can be deployed on cloud infrastructure to support scalability and high availability, making it suitable for real-world use cases such as </a:t>
            </a:r>
            <a:r>
              <a:rPr lang="en-IN" b="1" dirty="0">
                <a:latin typeface="Times New Roman" panose="02020603050405020304" pitchFamily="18" charset="0"/>
                <a:cs typeface="Times New Roman" panose="02020603050405020304" pitchFamily="18" charset="0"/>
              </a:rPr>
              <a:t>art auctions, collectibles, used goods, government tenders, and online marketplaces</a:t>
            </a:r>
            <a:r>
              <a:rPr lang="en-IN" dirty="0">
                <a:latin typeface="Times New Roman" panose="02020603050405020304" pitchFamily="18" charset="0"/>
                <a:cs typeface="Times New Roman" panose="02020603050405020304" pitchFamily="18" charset="0"/>
              </a:rPr>
              <a:t>. The project demonstrates strong practical skills in full-stack development, database design, and real-time system handling.</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Date Placeholder 12"/>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r>
              <a:rPr lang="en-US" altLang="en-US" sz="1400">
                <a:solidFill>
                  <a:schemeClr val="tx2"/>
                </a:solidFill>
                <a:sym typeface="+mn-ea"/>
              </a:rPr>
              <a:t>Date:07-03-2026</a:t>
            </a:r>
            <a:endParaRPr lang="en-US" altLang="en-US" sz="1400">
              <a:solidFill>
                <a:schemeClr val="tx2"/>
              </a:solidFill>
            </a:endParaRPr>
          </a:p>
        </p:txBody>
      </p:sp>
      <p:sp>
        <p:nvSpPr>
          <p:cNvPr id="15" name="Slide Number Placeholder 14"/>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t>4</a:t>
            </a:fld>
            <a:endParaRPr lang="en-US" altLang="en-US" sz="1400">
              <a:solidFill>
                <a:schemeClr val="bg1"/>
              </a:solidFill>
              <a:latin typeface="Century Gothic" panose="020B0502020202020204" pitchFamily="34" charset="0"/>
            </a:endParaRPr>
          </a:p>
        </p:txBody>
      </p:sp>
      <p:sp>
        <p:nvSpPr>
          <p:cNvPr id="3" name="Content Placeholder 2"/>
          <p:cNvSpPr>
            <a:spLocks noGrp="1"/>
          </p:cNvSpPr>
          <p:nvPr>
            <p:ph sz="quarter" idx="1"/>
          </p:nvPr>
        </p:nvSpPr>
        <p:spPr>
          <a:xfrm>
            <a:off x="859433" y="1123221"/>
            <a:ext cx="11099321" cy="4929188"/>
          </a:xfrm>
        </p:spPr>
        <p:txBody>
          <a:bodyPr vert="horz" wrap="square" lIns="91440" tIns="45720" rIns="91440" bIns="45720" numCol="1" anchor="t" anchorCtr="0" compatLnSpc="1">
            <a:normAutofit/>
          </a:bodyPr>
          <a:lstStyle/>
          <a:p>
            <a:r>
              <a:rPr lang="en-US" sz="2000" dirty="0">
                <a:latin typeface="Times New Roman" panose="02020603050405020304" pitchFamily="18" charset="0"/>
                <a:cs typeface="Times New Roman" panose="02020603050405020304" pitchFamily="18" charset="0"/>
              </a:rPr>
              <a:t>Traditional auctions require </a:t>
            </a:r>
            <a:r>
              <a:rPr lang="en-US" sz="2000" b="1" dirty="0">
                <a:latin typeface="Times New Roman" panose="02020603050405020304" pitchFamily="18" charset="0"/>
                <a:cs typeface="Times New Roman" panose="02020603050405020304" pitchFamily="18" charset="0"/>
              </a:rPr>
              <a:t>physical presence and limited participation</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Online auction systems allow </a:t>
            </a:r>
            <a:r>
              <a:rPr lang="en-US" sz="2000" b="1" dirty="0">
                <a:latin typeface="Times New Roman" panose="02020603050405020304" pitchFamily="18" charset="0"/>
                <a:cs typeface="Times New Roman" panose="02020603050405020304" pitchFamily="18" charset="0"/>
              </a:rPr>
              <a:t>users from different locations to participate</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This project aims to develop a </a:t>
            </a:r>
            <a:r>
              <a:rPr lang="en-US" sz="2000" b="1" dirty="0">
                <a:latin typeface="Times New Roman" panose="02020603050405020304" pitchFamily="18" charset="0"/>
                <a:cs typeface="Times New Roman" panose="02020603050405020304" pitchFamily="18" charset="0"/>
              </a:rPr>
              <a:t>secure and efficient web-based auction system</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It provides features like:</a:t>
            </a:r>
          </a:p>
          <a:p>
            <a:pPr lvl="1"/>
            <a:r>
              <a:rPr lang="en-US" sz="2000" dirty="0">
                <a:latin typeface="Times New Roman" panose="02020603050405020304" pitchFamily="18" charset="0"/>
                <a:cs typeface="Times New Roman" panose="02020603050405020304" pitchFamily="18" charset="0"/>
              </a:rPr>
              <a:t>Product listing</a:t>
            </a:r>
          </a:p>
          <a:p>
            <a:pPr lvl="1"/>
            <a:r>
              <a:rPr lang="en-US" sz="2000" dirty="0">
                <a:latin typeface="Times New Roman" panose="02020603050405020304" pitchFamily="18" charset="0"/>
                <a:cs typeface="Times New Roman" panose="02020603050405020304" pitchFamily="18" charset="0"/>
              </a:rPr>
              <a:t>Live bidding</a:t>
            </a:r>
          </a:p>
          <a:p>
            <a:pPr lvl="1"/>
            <a:r>
              <a:rPr lang="en-US" sz="2000" dirty="0">
                <a:latin typeface="Times New Roman" panose="02020603050405020304" pitchFamily="18" charset="0"/>
                <a:cs typeface="Times New Roman" panose="02020603050405020304" pitchFamily="18" charset="0"/>
              </a:rPr>
              <a:t>Auction timer</a:t>
            </a:r>
          </a:p>
          <a:p>
            <a:pPr lvl="1"/>
            <a:r>
              <a:rPr lang="en-US" sz="2000" dirty="0">
                <a:latin typeface="Times New Roman" panose="02020603050405020304" pitchFamily="18" charset="0"/>
                <a:cs typeface="Times New Roman" panose="02020603050405020304" pitchFamily="18" charset="0"/>
              </a:rPr>
              <a:t>Bid tracking</a:t>
            </a:r>
          </a:p>
          <a:p>
            <a:pPr lvl="1"/>
            <a:r>
              <a:rPr lang="en-US" sz="2000" dirty="0">
                <a:latin typeface="Times New Roman" panose="02020603050405020304" pitchFamily="18" charset="0"/>
                <a:cs typeface="Times New Roman" panose="02020603050405020304" pitchFamily="18" charset="0"/>
              </a:rPr>
              <a:t>User authentication</a:t>
            </a:r>
          </a:p>
          <a:p>
            <a:r>
              <a:rPr lang="en-US" sz="2000" dirty="0">
                <a:latin typeface="Times New Roman" panose="02020603050405020304" pitchFamily="18" charset="0"/>
                <a:cs typeface="Times New Roman" panose="02020603050405020304" pitchFamily="18" charset="0"/>
              </a:rPr>
              <a:t>The system ensures </a:t>
            </a:r>
            <a:r>
              <a:rPr lang="en-US" sz="2000" b="1" dirty="0">
                <a:latin typeface="Times New Roman" panose="02020603050405020304" pitchFamily="18" charset="0"/>
                <a:cs typeface="Times New Roman" panose="02020603050405020304" pitchFamily="18" charset="0"/>
              </a:rPr>
              <a:t>transparency and fair competition among bidders</a:t>
            </a:r>
            <a:r>
              <a:rPr lang="en-US" sz="2000" dirty="0">
                <a:latin typeface="Times New Roman" panose="02020603050405020304" pitchFamily="18" charset="0"/>
                <a:cs typeface="Times New Roman" panose="02020603050405020304" pitchFamily="18" charset="0"/>
              </a:rPr>
              <a:t>.</a:t>
            </a:r>
          </a:p>
        </p:txBody>
      </p:sp>
      <p:sp>
        <p:nvSpPr>
          <p:cNvPr id="2" name="Title 1"/>
          <p:cNvSpPr>
            <a:spLocks noGrp="1"/>
          </p:cNvSpPr>
          <p:nvPr>
            <p:ph type="title"/>
          </p:nvPr>
        </p:nvSpPr>
        <p:spPr>
          <a:xfrm>
            <a:off x="944563" y="228600"/>
            <a:ext cx="10363200" cy="838200"/>
          </a:xfrm>
        </p:spPr>
        <p:txBody>
          <a:bodyPr vert="horz" wrap="square" lIns="91440" tIns="45720" rIns="91440" bIns="91440" numCol="1" anchor="b" anchorCtr="0" compatLnSpc="1">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IN" sz="4000" b="0" i="0" u="none" strike="noStrike" kern="1200" cap="none" spc="0" normalizeH="0" baseline="0" noProof="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Introduction</a:t>
            </a:r>
          </a:p>
        </p:txBody>
      </p:sp>
      <p:sp>
        <p:nvSpPr>
          <p:cNvPr id="4" name="Footer Placeholder 3"/>
          <p:cNvSpPr txBox="1">
            <a:spLocks noGrp="1"/>
          </p:cNvSpPr>
          <p:nvPr>
            <p:ph type="ftr" sz="quarter" idx="11"/>
          </p:nvPr>
        </p:nvSpPr>
        <p:spPr>
          <a:xfrm>
            <a:off x="1125894" y="6150040"/>
            <a:ext cx="5283200" cy="815651"/>
          </a:xfrm>
          <a:noFill/>
        </p:spPr>
        <p:txBody>
          <a:bodyPr anchor="ctr" anchorCtr="0"/>
          <a:lstStyle/>
          <a:p>
            <a:pPr>
              <a:defRPr/>
            </a:pPr>
            <a:r>
              <a:rPr lang="en-IN" altLang="en-US"/>
              <a:t>FIRST REVIEW</a:t>
            </a:r>
            <a:r>
              <a:rPr lang="en-US"/>
              <a:t> – PROJECT STAGE 2</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pic>
        <p:nvPicPr>
          <p:cNvPr id="13319" name="Google Shape;22642;p14" descr="BIET-Bharat Institute of Engineering and Technology"/>
          <p:cNvPicPr preferRelativeResize="0">
            <a:picLocks noChangeAspect="1"/>
          </p:cNvPicPr>
          <p:nvPr/>
        </p:nvPicPr>
        <p:blipFill>
          <a:blip r:embed="rId3"/>
          <a:stretch>
            <a:fillRect/>
          </a:stretch>
        </p:blipFill>
        <p:spPr>
          <a:xfrm>
            <a:off x="11049000" y="204788"/>
            <a:ext cx="584200" cy="520700"/>
          </a:xfrm>
          <a:prstGeom prst="rect">
            <a:avLst/>
          </a:prstGeom>
          <a:noFill/>
          <a:ln w="9525">
            <a:noFill/>
          </a:ln>
        </p:spPr>
      </p:pic>
      <p:pic>
        <p:nvPicPr>
          <p:cNvPr id="5" name="Google Shape;22642;p14" descr="BIET-Bharat Institute of Engineering and Technology"/>
          <p:cNvPicPr preferRelativeResize="0">
            <a:picLocks noChangeAspect="1"/>
          </p:cNvPicPr>
          <p:nvPr/>
        </p:nvPicPr>
        <p:blipFill>
          <a:blip r:embed="rId3"/>
          <a:stretch>
            <a:fillRect/>
          </a:stretch>
        </p:blipFill>
        <p:spPr>
          <a:xfrm flipH="1">
            <a:off x="11031747" y="222041"/>
            <a:ext cx="550653" cy="520700"/>
          </a:xfrm>
          <a:prstGeom prst="rect">
            <a:avLst/>
          </a:prstGeom>
          <a:noFill/>
          <a:ln w="9525">
            <a:noFill/>
          </a:ln>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Date Placeholder 1"/>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r>
              <a:rPr lang="en-US" altLang="en-US" sz="1400">
                <a:solidFill>
                  <a:schemeClr val="tx2"/>
                </a:solidFill>
                <a:sym typeface="+mn-ea"/>
              </a:rPr>
              <a:t>Date:07-03-2026</a:t>
            </a:r>
            <a:endParaRPr lang="en-US" altLang="en-US" sz="1400">
              <a:solidFill>
                <a:schemeClr val="tx2"/>
              </a:solidFill>
            </a:endParaRPr>
          </a:p>
        </p:txBody>
      </p:sp>
      <p:sp>
        <p:nvSpPr>
          <p:cNvPr id="4" name="Slide Number Placeholder 3"/>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t>5</a:t>
            </a:fld>
            <a:endParaRPr lang="en-US" altLang="en-US" sz="1400">
              <a:solidFill>
                <a:schemeClr val="bg1"/>
              </a:solidFill>
              <a:latin typeface="Century Gothic" panose="020B0502020202020204" pitchFamily="34" charset="0"/>
            </a:endParaRPr>
          </a:p>
        </p:txBody>
      </p:sp>
      <p:sp>
        <p:nvSpPr>
          <p:cNvPr id="15364" name="Title 6"/>
          <p:cNvSpPr txBox="1"/>
          <p:nvPr/>
        </p:nvSpPr>
        <p:spPr>
          <a:xfrm>
            <a:off x="993775" y="176213"/>
            <a:ext cx="10363200" cy="844550"/>
          </a:xfrm>
          <a:prstGeom prst="rect">
            <a:avLst/>
          </a:prstGeom>
          <a:noFill/>
          <a:ln w="9525">
            <a:noFill/>
          </a:ln>
        </p:spPr>
        <p:txBody>
          <a:bodyPr bIns="91440" anchor="b" anchorCtr="0"/>
          <a:lstStyle/>
          <a:p>
            <a:pPr algn="ctr" eaLnBrk="1" hangingPunct="1">
              <a:buNone/>
            </a:pPr>
            <a:r>
              <a:rPr lang="en-IN" altLang="en-US" sz="4000">
                <a:solidFill>
                  <a:srgbClr val="0E58C4"/>
                </a:solidFill>
                <a:latin typeface="Times New Roman" panose="02020603050405020304" pitchFamily="18" charset="0"/>
                <a:cs typeface="Microsoft Sans Serif" panose="020B0604020202020204" pitchFamily="34" charset="0"/>
              </a:rPr>
              <a:t>Literature Survey</a:t>
            </a:r>
            <a:endParaRPr lang="en-IN" altLang="en-US" sz="4000">
              <a:solidFill>
                <a:srgbClr val="0E58C4"/>
              </a:solidFill>
              <a:latin typeface="Times New Roman" panose="02020603050405020304" pitchFamily="18" charset="0"/>
              <a:ea typeface="Microsoft Sans Serif" panose="020B0604020202020204" pitchFamily="34" charset="0"/>
            </a:endParaRPr>
          </a:p>
        </p:txBody>
      </p:sp>
      <p:sp>
        <p:nvSpPr>
          <p:cNvPr id="11" name="Content Placeholder 2"/>
          <p:cNvSpPr txBox="1"/>
          <p:nvPr/>
        </p:nvSpPr>
        <p:spPr>
          <a:xfrm>
            <a:off x="1219200" y="1447800"/>
            <a:ext cx="10363200" cy="4572000"/>
          </a:xfrm>
          <a:prstGeom prst="rect">
            <a:avLst/>
          </a:prstGeom>
        </p:spPr>
        <p:txBody>
          <a:bodyPr>
            <a:normAutofit/>
          </a:bodyPr>
          <a:lstStyle>
            <a:lvl1pPr marL="274320" indent="-274320" algn="l" rtl="0" eaLnBrk="1" latinLnBrk="0" hangingPunct="1">
              <a:spcBef>
                <a:spcPts val="580"/>
              </a:spcBef>
              <a:buClr>
                <a:schemeClr val="accent1"/>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 typeface="Arial" panose="020B0604020202020204" pitchFamily="34" charset="0"/>
              <a:buChar char="•"/>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580"/>
              </a:spcBef>
              <a:spcAft>
                <a:spcPts val="0"/>
              </a:spcAft>
              <a:buClr>
                <a:schemeClr val="accent1"/>
              </a:buClr>
              <a:buSzPct val="85000"/>
              <a:buNone/>
              <a:defRPr/>
            </a:pPr>
            <a:endParaRPr kumimoji="0" lang="en-IN" sz="1800" b="1" i="0" u="none" strike="noStrike" kern="1200" cap="none" spc="0" normalizeH="0" baseline="0" noProof="0">
              <a:ln>
                <a:noFill/>
              </a:ln>
              <a:solidFill>
                <a:srgbClr val="C00000"/>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endParaRPr kumimoji="0" lang="en-IN" sz="18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Table 11"/>
          <p:cNvGraphicFramePr>
            <a:graphicFrameLocks noGrp="1"/>
          </p:cNvGraphicFramePr>
          <p:nvPr>
            <p:extLst>
              <p:ext uri="{D42A27DB-BD31-4B8C-83A1-F6EECF244321}">
                <p14:modId xmlns:p14="http://schemas.microsoft.com/office/powerpoint/2010/main" val="3692337723"/>
              </p:ext>
            </p:extLst>
          </p:nvPr>
        </p:nvGraphicFramePr>
        <p:xfrm>
          <a:off x="471578" y="887399"/>
          <a:ext cx="11161622" cy="5282508"/>
        </p:xfrm>
        <a:graphic>
          <a:graphicData uri="http://schemas.openxmlformats.org/drawingml/2006/table">
            <a:tbl>
              <a:tblPr>
                <a:tableStyleId>{5C22544A-7EE6-4342-B048-85BDC9FD1C3A}</a:tableStyleId>
              </a:tblPr>
              <a:tblGrid>
                <a:gridCol w="560809">
                  <a:extLst>
                    <a:ext uri="{9D8B030D-6E8A-4147-A177-3AD203B41FA5}">
                      <a16:colId xmlns:a16="http://schemas.microsoft.com/office/drawing/2014/main" val="20000"/>
                    </a:ext>
                  </a:extLst>
                </a:gridCol>
                <a:gridCol w="3234813">
                  <a:extLst>
                    <a:ext uri="{9D8B030D-6E8A-4147-A177-3AD203B41FA5}">
                      <a16:colId xmlns:a16="http://schemas.microsoft.com/office/drawing/2014/main" val="20001"/>
                    </a:ext>
                  </a:extLst>
                </a:gridCol>
                <a:gridCol w="3189783">
                  <a:extLst>
                    <a:ext uri="{9D8B030D-6E8A-4147-A177-3AD203B41FA5}">
                      <a16:colId xmlns:a16="http://schemas.microsoft.com/office/drawing/2014/main" val="20002"/>
                    </a:ext>
                  </a:extLst>
                </a:gridCol>
                <a:gridCol w="2013094">
                  <a:extLst>
                    <a:ext uri="{9D8B030D-6E8A-4147-A177-3AD203B41FA5}">
                      <a16:colId xmlns:a16="http://schemas.microsoft.com/office/drawing/2014/main" val="20003"/>
                    </a:ext>
                  </a:extLst>
                </a:gridCol>
                <a:gridCol w="2163123">
                  <a:extLst>
                    <a:ext uri="{9D8B030D-6E8A-4147-A177-3AD203B41FA5}">
                      <a16:colId xmlns:a16="http://schemas.microsoft.com/office/drawing/2014/main" val="20004"/>
                    </a:ext>
                  </a:extLst>
                </a:gridCol>
              </a:tblGrid>
              <a:tr h="563604">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Ref. No</a:t>
                      </a:r>
                      <a:endParaRPr lang="en-IN" sz="2000" b="0" i="0" u="none" strike="noStrike" dirty="0">
                        <a:solidFill>
                          <a:srgbClr val="FFFFFF"/>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buNone/>
                      </a:pPr>
                      <a:r>
                        <a:rPr lang="en-IN" b="1">
                          <a:latin typeface="Times New Roman" panose="02020603050405020304" pitchFamily="18" charset="0"/>
                          <a:cs typeface="Times New Roman" panose="02020603050405020304" pitchFamily="18" charset="0"/>
                        </a:rPr>
                        <a:t>Title &amp; Author</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Technique Used</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Pros</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Cons</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1005784">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1</a:t>
                      </a:r>
                      <a:endParaRPr lang="en-IN"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buNone/>
                      </a:pPr>
                      <a:r>
                        <a:rPr lang="en-IN" i="1">
                          <a:latin typeface="Times New Roman" panose="02020603050405020304" pitchFamily="18" charset="0"/>
                          <a:cs typeface="Times New Roman" panose="02020603050405020304" pitchFamily="18" charset="0"/>
                        </a:rPr>
                        <a:t>Online Auction System</a:t>
                      </a:r>
                      <a:r>
                        <a:rPr lang="en-IN">
                          <a:latin typeface="Times New Roman" panose="02020603050405020304" pitchFamily="18" charset="0"/>
                          <a:cs typeface="Times New Roman" panose="02020603050405020304" pitchFamily="18" charset="0"/>
                        </a:rPr>
                        <a:t> – Smith J., 2020</a:t>
                      </a:r>
                    </a:p>
                  </a:txBody>
                  <a:tcPr anchor="ctr"/>
                </a:tc>
                <a:tc>
                  <a:txBody>
                    <a:bodyPr/>
                    <a:lstStyle/>
                    <a:p>
                      <a:pPr>
                        <a:buNone/>
                      </a:pPr>
                      <a:r>
                        <a:rPr lang="en-US" dirty="0">
                          <a:latin typeface="Times New Roman" panose="02020603050405020304" pitchFamily="18" charset="0"/>
                          <a:cs typeface="Times New Roman" panose="02020603050405020304" pitchFamily="18" charset="0"/>
                        </a:rPr>
                        <a:t>Web-based auction system using real-time bidding algorithms</a:t>
                      </a:r>
                    </a:p>
                  </a:txBody>
                  <a:tcPr anchor="ctr"/>
                </a:tc>
                <a:tc>
                  <a:txBody>
                    <a:bodyPr/>
                    <a:lstStyle/>
                    <a:p>
                      <a:pPr>
                        <a:buNone/>
                      </a:pPr>
                      <a:r>
                        <a:rPr lang="en-IN">
                          <a:latin typeface="Times New Roman" panose="02020603050405020304" pitchFamily="18" charset="0"/>
                          <a:cs typeface="Times New Roman" panose="02020603050405020304" pitchFamily="18" charset="0"/>
                        </a:rPr>
                        <a:t>Enables online participation, dynamic pricing</a:t>
                      </a:r>
                    </a:p>
                  </a:txBody>
                  <a:tcPr anchor="ctr"/>
                </a:tc>
                <a:tc>
                  <a:txBody>
                    <a:bodyPr/>
                    <a:lstStyle/>
                    <a:p>
                      <a:pPr>
                        <a:buNone/>
                      </a:pPr>
                      <a:r>
                        <a:rPr lang="en-IN">
                          <a:latin typeface="Times New Roman" panose="02020603050405020304" pitchFamily="18" charset="0"/>
                          <a:cs typeface="Times New Roman" panose="02020603050405020304" pitchFamily="18" charset="0"/>
                        </a:rPr>
                        <a:t>Limited security mechanisms</a:t>
                      </a:r>
                    </a:p>
                  </a:txBody>
                  <a:tcPr anchor="ctr"/>
                </a:tc>
                <a:extLst>
                  <a:ext uri="{0D108BD9-81ED-4DB2-BD59-A6C34878D82A}">
                    <a16:rowId xmlns:a16="http://schemas.microsoft.com/office/drawing/2014/main" val="10001"/>
                  </a:ext>
                </a:extLst>
              </a:tr>
              <a:tr h="804106">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2</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buNone/>
                      </a:pPr>
                      <a:r>
                        <a:rPr lang="en-US" i="1">
                          <a:latin typeface="Times New Roman" panose="02020603050405020304" pitchFamily="18" charset="0"/>
                          <a:cs typeface="Times New Roman" panose="02020603050405020304" pitchFamily="18" charset="0"/>
                        </a:rPr>
                        <a:t>Secure E-Auction Framework</a:t>
                      </a:r>
                      <a:r>
                        <a:rPr lang="en-US">
                          <a:latin typeface="Times New Roman" panose="02020603050405020304" pitchFamily="18" charset="0"/>
                          <a:cs typeface="Times New Roman" panose="02020603050405020304" pitchFamily="18" charset="0"/>
                        </a:rPr>
                        <a:t> – Kumar R., 2021</a:t>
                      </a:r>
                    </a:p>
                  </a:txBody>
                  <a:tcPr anchor="ctr"/>
                </a:tc>
                <a:tc>
                  <a:txBody>
                    <a:bodyPr/>
                    <a:lstStyle/>
                    <a:p>
                      <a:pPr>
                        <a:buNone/>
                      </a:pPr>
                      <a:r>
                        <a:rPr lang="en-US">
                          <a:latin typeface="Times New Roman" panose="02020603050405020304" pitchFamily="18" charset="0"/>
                          <a:cs typeface="Times New Roman" panose="02020603050405020304" pitchFamily="18" charset="0"/>
                        </a:rPr>
                        <a:t>Secure authentication and encrypted bidding system</a:t>
                      </a:r>
                    </a:p>
                  </a:txBody>
                  <a:tcPr anchor="ctr"/>
                </a:tc>
                <a:tc>
                  <a:txBody>
                    <a:bodyPr/>
                    <a:lstStyle/>
                    <a:p>
                      <a:pPr>
                        <a:buNone/>
                      </a:pPr>
                      <a:r>
                        <a:rPr lang="en-US">
                          <a:latin typeface="Times New Roman" panose="02020603050405020304" pitchFamily="18" charset="0"/>
                          <a:cs typeface="Times New Roman" panose="02020603050405020304" pitchFamily="18" charset="0"/>
                        </a:rPr>
                        <a:t>Improves data security and trust</a:t>
                      </a:r>
                    </a:p>
                  </a:txBody>
                  <a:tcPr anchor="ctr"/>
                </a:tc>
                <a:tc>
                  <a:txBody>
                    <a:bodyPr/>
                    <a:lstStyle/>
                    <a:p>
                      <a:pPr>
                        <a:buNone/>
                      </a:pPr>
                      <a:r>
                        <a:rPr lang="en-IN">
                          <a:latin typeface="Times New Roman" panose="02020603050405020304" pitchFamily="18" charset="0"/>
                          <a:cs typeface="Times New Roman" panose="02020603050405020304" pitchFamily="18" charset="0"/>
                        </a:rPr>
                        <a:t>Higher implementation complexity</a:t>
                      </a:r>
                    </a:p>
                  </a:txBody>
                  <a:tcPr anchor="ctr"/>
                </a:tc>
                <a:extLst>
                  <a:ext uri="{0D108BD9-81ED-4DB2-BD59-A6C34878D82A}">
                    <a16:rowId xmlns:a16="http://schemas.microsoft.com/office/drawing/2014/main" val="10002"/>
                  </a:ext>
                </a:extLst>
              </a:tr>
              <a:tr h="804106">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3</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buNone/>
                      </a:pPr>
                      <a:r>
                        <a:rPr lang="fr-FR" i="1">
                          <a:latin typeface="Times New Roman" panose="02020603050405020304" pitchFamily="18" charset="0"/>
                          <a:cs typeface="Times New Roman" panose="02020603050405020304" pitchFamily="18" charset="0"/>
                        </a:rPr>
                        <a:t>E-Commerce Auction Platform</a:t>
                      </a:r>
                      <a:r>
                        <a:rPr lang="fr-FR">
                          <a:latin typeface="Times New Roman" panose="02020603050405020304" pitchFamily="18" charset="0"/>
                          <a:cs typeface="Times New Roman" panose="02020603050405020304" pitchFamily="18" charset="0"/>
                        </a:rPr>
                        <a:t> – Lee S., 2019</a:t>
                      </a:r>
                    </a:p>
                  </a:txBody>
                  <a:tcPr anchor="ctr"/>
                </a:tc>
                <a:tc>
                  <a:txBody>
                    <a:bodyPr/>
                    <a:lstStyle/>
                    <a:p>
                      <a:pPr>
                        <a:buNone/>
                      </a:pPr>
                      <a:r>
                        <a:rPr lang="en-US">
                          <a:latin typeface="Times New Roman" panose="02020603050405020304" pitchFamily="18" charset="0"/>
                          <a:cs typeface="Times New Roman" panose="02020603050405020304" pitchFamily="18" charset="0"/>
                        </a:rPr>
                        <a:t>Cloud-based auction platform with centralized database</a:t>
                      </a:r>
                    </a:p>
                  </a:txBody>
                  <a:tcPr anchor="ctr"/>
                </a:tc>
                <a:tc>
                  <a:txBody>
                    <a:bodyPr/>
                    <a:lstStyle/>
                    <a:p>
                      <a:pPr>
                        <a:buNone/>
                      </a:pPr>
                      <a:r>
                        <a:rPr lang="en-US">
                          <a:latin typeface="Times New Roman" panose="02020603050405020304" pitchFamily="18" charset="0"/>
                          <a:cs typeface="Times New Roman" panose="02020603050405020304" pitchFamily="18" charset="0"/>
                        </a:rPr>
                        <a:t>Scalable and accessible from anywhere</a:t>
                      </a:r>
                    </a:p>
                  </a:txBody>
                  <a:tcPr anchor="ctr"/>
                </a:tc>
                <a:tc>
                  <a:txBody>
                    <a:bodyPr/>
                    <a:lstStyle/>
                    <a:p>
                      <a:pPr>
                        <a:buNone/>
                      </a:pPr>
                      <a:r>
                        <a:rPr lang="en-IN">
                          <a:latin typeface="Times New Roman" panose="02020603050405020304" pitchFamily="18" charset="0"/>
                          <a:cs typeface="Times New Roman" panose="02020603050405020304" pitchFamily="18" charset="0"/>
                        </a:rPr>
                        <a:t>Depends on stable internet connection</a:t>
                      </a:r>
                    </a:p>
                  </a:txBody>
                  <a:tcPr anchor="ctr"/>
                </a:tc>
                <a:extLst>
                  <a:ext uri="{0D108BD9-81ED-4DB2-BD59-A6C34878D82A}">
                    <a16:rowId xmlns:a16="http://schemas.microsoft.com/office/drawing/2014/main" val="10003"/>
                  </a:ext>
                </a:extLst>
              </a:tr>
              <a:tr h="804106">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4</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buNone/>
                      </a:pPr>
                      <a:r>
                        <a:rPr lang="en-US" i="1">
                          <a:latin typeface="Times New Roman" panose="02020603050405020304" pitchFamily="18" charset="0"/>
                          <a:cs typeface="Times New Roman" panose="02020603050405020304" pitchFamily="18" charset="0"/>
                        </a:rPr>
                        <a:t>Real-Time Online Bidding System</a:t>
                      </a:r>
                      <a:r>
                        <a:rPr lang="en-US">
                          <a:latin typeface="Times New Roman" panose="02020603050405020304" pitchFamily="18" charset="0"/>
                          <a:cs typeface="Times New Roman" panose="02020603050405020304" pitchFamily="18" charset="0"/>
                        </a:rPr>
                        <a:t> – Ahmed K., 2022</a:t>
                      </a:r>
                    </a:p>
                  </a:txBody>
                  <a:tcPr anchor="ctr"/>
                </a:tc>
                <a:tc>
                  <a:txBody>
                    <a:bodyPr/>
                    <a:lstStyle/>
                    <a:p>
                      <a:pPr>
                        <a:buNone/>
                      </a:pPr>
                      <a:r>
                        <a:rPr lang="en-US">
                          <a:latin typeface="Times New Roman" panose="02020603050405020304" pitchFamily="18" charset="0"/>
                          <a:cs typeface="Times New Roman" panose="02020603050405020304" pitchFamily="18" charset="0"/>
                        </a:rPr>
                        <a:t>Real-time bid update using server-client architecture</a:t>
                      </a:r>
                    </a:p>
                  </a:txBody>
                  <a:tcPr anchor="ctr"/>
                </a:tc>
                <a:tc>
                  <a:txBody>
                    <a:bodyPr/>
                    <a:lstStyle/>
                    <a:p>
                      <a:pPr>
                        <a:buNone/>
                      </a:pPr>
                      <a:r>
                        <a:rPr lang="en-US">
                          <a:latin typeface="Times New Roman" panose="02020603050405020304" pitchFamily="18" charset="0"/>
                          <a:cs typeface="Times New Roman" panose="02020603050405020304" pitchFamily="18" charset="0"/>
                        </a:rPr>
                        <a:t>Instant bid updates and improved user engagement</a:t>
                      </a:r>
                    </a:p>
                  </a:txBody>
                  <a:tcPr anchor="ctr"/>
                </a:tc>
                <a:tc>
                  <a:txBody>
                    <a:bodyPr/>
                    <a:lstStyle/>
                    <a:p>
                      <a:pPr>
                        <a:buNone/>
                      </a:pPr>
                      <a:r>
                        <a:rPr lang="en-IN">
                          <a:latin typeface="Times New Roman" panose="02020603050405020304" pitchFamily="18" charset="0"/>
                          <a:cs typeface="Times New Roman" panose="02020603050405020304" pitchFamily="18" charset="0"/>
                        </a:rPr>
                        <a:t>Requires strong server performance</a:t>
                      </a:r>
                    </a:p>
                  </a:txBody>
                  <a:tcPr anchor="ctr"/>
                </a:tc>
                <a:extLst>
                  <a:ext uri="{0D108BD9-81ED-4DB2-BD59-A6C34878D82A}">
                    <a16:rowId xmlns:a16="http://schemas.microsoft.com/office/drawing/2014/main" val="10004"/>
                  </a:ext>
                </a:extLst>
              </a:tr>
              <a:tr h="804106">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5</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buNone/>
                      </a:pPr>
                      <a:r>
                        <a:rPr lang="en-IN" i="1">
                          <a:latin typeface="Times New Roman" panose="02020603050405020304" pitchFamily="18" charset="0"/>
                          <a:cs typeface="Times New Roman" panose="02020603050405020304" pitchFamily="18" charset="0"/>
                        </a:rPr>
                        <a:t>Blockchain Based Auction System</a:t>
                      </a:r>
                      <a:r>
                        <a:rPr lang="en-IN">
                          <a:latin typeface="Times New Roman" panose="02020603050405020304" pitchFamily="18" charset="0"/>
                          <a:cs typeface="Times New Roman" panose="02020603050405020304" pitchFamily="18" charset="0"/>
                        </a:rPr>
                        <a:t> – Zhang Y., 2023</a:t>
                      </a:r>
                    </a:p>
                  </a:txBody>
                  <a:tcPr anchor="ctr"/>
                </a:tc>
                <a:tc>
                  <a:txBody>
                    <a:bodyPr/>
                    <a:lstStyle/>
                    <a:p>
                      <a:pPr>
                        <a:buNone/>
                      </a:pPr>
                      <a:r>
                        <a:rPr lang="en-US">
                          <a:latin typeface="Times New Roman" panose="02020603050405020304" pitchFamily="18" charset="0"/>
                          <a:cs typeface="Times New Roman" panose="02020603050405020304" pitchFamily="18" charset="0"/>
                        </a:rPr>
                        <a:t>Blockchain technology for transparent bidding</a:t>
                      </a:r>
                    </a:p>
                  </a:txBody>
                  <a:tcPr anchor="ctr"/>
                </a:tc>
                <a:tc>
                  <a:txBody>
                    <a:bodyPr/>
                    <a:lstStyle/>
                    <a:p>
                      <a:pPr>
                        <a:buNone/>
                      </a:pPr>
                      <a:r>
                        <a:rPr lang="en-US">
                          <a:latin typeface="Times New Roman" panose="02020603050405020304" pitchFamily="18" charset="0"/>
                          <a:cs typeface="Times New Roman" panose="02020603050405020304" pitchFamily="18" charset="0"/>
                        </a:rPr>
                        <a:t>High transparency and tamper-proof records</a:t>
                      </a:r>
                    </a:p>
                  </a:txBody>
                  <a:tcPr anchor="ctr"/>
                </a:tc>
                <a:tc>
                  <a:txBody>
                    <a:bodyPr/>
                    <a:lstStyle/>
                    <a:p>
                      <a:pPr>
                        <a:buNone/>
                      </a:pPr>
                      <a:r>
                        <a:rPr lang="en-US" dirty="0">
                          <a:latin typeface="Times New Roman" panose="02020603050405020304" pitchFamily="18" charset="0"/>
                          <a:cs typeface="Times New Roman" panose="02020603050405020304" pitchFamily="18" charset="0"/>
                        </a:rPr>
                        <a:t>High computational cost and complexity</a:t>
                      </a:r>
                    </a:p>
                  </a:txBody>
                  <a:tcPr anchor="ctr"/>
                </a:tc>
                <a:extLst>
                  <a:ext uri="{0D108BD9-81ED-4DB2-BD59-A6C34878D82A}">
                    <a16:rowId xmlns:a16="http://schemas.microsoft.com/office/drawing/2014/main" val="10005"/>
                  </a:ext>
                </a:extLst>
              </a:tr>
            </a:tbl>
          </a:graphicData>
        </a:graphic>
      </p:graphicFrame>
      <p:sp>
        <p:nvSpPr>
          <p:cNvPr id="2" name="Footer Placeholder 1"/>
          <p:cNvSpPr txBox="1">
            <a:spLocks noGrp="1"/>
          </p:cNvSpPr>
          <p:nvPr>
            <p:ph type="ftr" sz="quarter" idx="11"/>
          </p:nvPr>
        </p:nvSpPr>
        <p:spPr>
          <a:xfrm>
            <a:off x="993775" y="6488824"/>
            <a:ext cx="5508625" cy="140575"/>
          </a:xfrm>
          <a:noFill/>
        </p:spPr>
        <p:txBody>
          <a:bodyPr anchor="ctr" anchorCtr="0"/>
          <a:lstStyle/>
          <a:p>
            <a:pPr>
              <a:defRPr/>
            </a:pPr>
            <a:r>
              <a:rPr lang="en-IN" altLang="en-US"/>
              <a:t>FIRST REVIEW</a:t>
            </a:r>
            <a:r>
              <a:rPr lang="en-US"/>
              <a:t> – PROJECT STAGE 2</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 </a:t>
            </a:r>
          </a:p>
        </p:txBody>
      </p:sp>
      <p:pic>
        <p:nvPicPr>
          <p:cNvPr id="15411" name="Google Shape;22642;p14" descr="BIET-Bharat Institute of Engineering and Technology"/>
          <p:cNvPicPr preferRelativeResize="0">
            <a:picLocks noChangeAspect="1"/>
          </p:cNvPicPr>
          <p:nvPr/>
        </p:nvPicPr>
        <p:blipFill>
          <a:blip r:embed="rId2"/>
          <a:stretch>
            <a:fillRect/>
          </a:stretch>
        </p:blipFill>
        <p:spPr>
          <a:xfrm>
            <a:off x="11049000" y="204788"/>
            <a:ext cx="584200" cy="520700"/>
          </a:xfrm>
          <a:prstGeom prst="rect">
            <a:avLst/>
          </a:prstGeom>
          <a:noFill/>
          <a:ln w="9525">
            <a:noFill/>
          </a:ln>
        </p:spPr>
      </p:pic>
      <p:pic>
        <p:nvPicPr>
          <p:cNvPr id="3" name="Google Shape;22642;p14" descr="BIET-Bharat Institute of Engineering and Technology"/>
          <p:cNvPicPr preferRelativeResize="0">
            <a:picLocks noChangeAspect="1"/>
          </p:cNvPicPr>
          <p:nvPr/>
        </p:nvPicPr>
        <p:blipFill>
          <a:blip r:embed="rId2"/>
          <a:stretch>
            <a:fillRect/>
          </a:stretch>
        </p:blipFill>
        <p:spPr>
          <a:xfrm flipH="1">
            <a:off x="11031747" y="222041"/>
            <a:ext cx="550653" cy="520700"/>
          </a:xfrm>
          <a:prstGeom prst="rect">
            <a:avLst/>
          </a:prstGeom>
          <a:noFill/>
          <a:ln w="9525">
            <a:noFill/>
          </a:ln>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Date Placeholder 1"/>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r>
              <a:rPr lang="en-US" altLang="en-US" sz="1400">
                <a:solidFill>
                  <a:schemeClr val="tx2"/>
                </a:solidFill>
                <a:sym typeface="+mn-ea"/>
              </a:rPr>
              <a:t>Date:07-03-2026</a:t>
            </a:r>
            <a:endParaRPr lang="en-US" altLang="en-US" sz="1400">
              <a:solidFill>
                <a:schemeClr val="tx2"/>
              </a:solidFill>
            </a:endParaRPr>
          </a:p>
        </p:txBody>
      </p:sp>
      <p:sp>
        <p:nvSpPr>
          <p:cNvPr id="4" name="Slide Number Placeholder 3"/>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t>6</a:t>
            </a:fld>
            <a:endParaRPr lang="en-US" altLang="en-US" sz="1400">
              <a:solidFill>
                <a:schemeClr val="bg1"/>
              </a:solidFill>
              <a:latin typeface="Century Gothic" panose="020B0502020202020204" pitchFamily="34" charset="0"/>
            </a:endParaRPr>
          </a:p>
        </p:txBody>
      </p:sp>
      <p:sp>
        <p:nvSpPr>
          <p:cNvPr id="7" name="Title 6"/>
          <p:cNvSpPr>
            <a:spLocks noGrp="1"/>
          </p:cNvSpPr>
          <p:nvPr>
            <p:ph type="title"/>
          </p:nvPr>
        </p:nvSpPr>
        <p:spPr>
          <a:xfrm>
            <a:off x="890588" y="261938"/>
            <a:ext cx="10363200" cy="838200"/>
          </a:xfrm>
        </p:spPr>
        <p:txBody>
          <a:bodyPr vert="horz" wrap="square" lIns="91440" tIns="45720" rIns="91440" bIns="91440" numCol="1" anchor="b" anchorCtr="0" compatLnSpc="1">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IN" sz="4000" b="0" i="0" u="none" strike="noStrike" kern="1200" cap="none" spc="0" normalizeH="0" baseline="0" noProof="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Literature Survey</a:t>
            </a:r>
          </a:p>
        </p:txBody>
      </p:sp>
      <p:sp>
        <p:nvSpPr>
          <p:cNvPr id="10" name="Content Placeholder 2"/>
          <p:cNvSpPr txBox="1"/>
          <p:nvPr/>
        </p:nvSpPr>
        <p:spPr>
          <a:xfrm>
            <a:off x="423545" y="1100455"/>
            <a:ext cx="11344910" cy="4572000"/>
          </a:xfrm>
          <a:prstGeom prst="rect">
            <a:avLst/>
          </a:prstGeom>
        </p:spPr>
        <p:txBody>
          <a:bodyPr>
            <a:normAutofit/>
          </a:bodyPr>
          <a:lstStyle>
            <a:lvl1pPr marL="274320" indent="-274320" algn="l" rtl="0" eaLnBrk="1" latinLnBrk="0" hangingPunct="1">
              <a:spcBef>
                <a:spcPts val="580"/>
              </a:spcBef>
              <a:buClr>
                <a:schemeClr val="accent1"/>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 typeface="Arial" panose="020B0604020202020204" pitchFamily="34" charset="0"/>
              <a:buChar char="•"/>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580"/>
              </a:spcBef>
              <a:spcAft>
                <a:spcPts val="0"/>
              </a:spcAft>
              <a:buClr>
                <a:schemeClr val="accent1"/>
              </a:buClr>
              <a:buSzPct val="85000"/>
              <a:buNone/>
              <a:defRPr/>
            </a:pPr>
            <a:endParaRPr kumimoji="0" lang="en-IN" sz="1800" b="1" i="0" u="none" strike="noStrike" kern="1200" cap="none" spc="0" normalizeH="0" baseline="0" noProof="0">
              <a:ln>
                <a:noFill/>
              </a:ln>
              <a:solidFill>
                <a:srgbClr val="C00000"/>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endParaRPr kumimoji="0" lang="en-IN" sz="18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2867479173"/>
              </p:ext>
            </p:extLst>
          </p:nvPr>
        </p:nvGraphicFramePr>
        <p:xfrm>
          <a:off x="424131" y="1062969"/>
          <a:ext cx="11344323" cy="5313044"/>
        </p:xfrm>
        <a:graphic>
          <a:graphicData uri="http://schemas.openxmlformats.org/drawingml/2006/table">
            <a:tbl>
              <a:tblPr>
                <a:tableStyleId>{5C22544A-7EE6-4342-B048-85BDC9FD1C3A}</a:tableStyleId>
              </a:tblPr>
              <a:tblGrid>
                <a:gridCol w="647585">
                  <a:extLst>
                    <a:ext uri="{9D8B030D-6E8A-4147-A177-3AD203B41FA5}">
                      <a16:colId xmlns:a16="http://schemas.microsoft.com/office/drawing/2014/main" val="20000"/>
                    </a:ext>
                  </a:extLst>
                </a:gridCol>
                <a:gridCol w="3283974">
                  <a:extLst>
                    <a:ext uri="{9D8B030D-6E8A-4147-A177-3AD203B41FA5}">
                      <a16:colId xmlns:a16="http://schemas.microsoft.com/office/drawing/2014/main" val="20001"/>
                    </a:ext>
                  </a:extLst>
                </a:gridCol>
                <a:gridCol w="3451123">
                  <a:extLst>
                    <a:ext uri="{9D8B030D-6E8A-4147-A177-3AD203B41FA5}">
                      <a16:colId xmlns:a16="http://schemas.microsoft.com/office/drawing/2014/main" val="20002"/>
                    </a:ext>
                  </a:extLst>
                </a:gridCol>
                <a:gridCol w="1917290">
                  <a:extLst>
                    <a:ext uri="{9D8B030D-6E8A-4147-A177-3AD203B41FA5}">
                      <a16:colId xmlns:a16="http://schemas.microsoft.com/office/drawing/2014/main" val="20003"/>
                    </a:ext>
                  </a:extLst>
                </a:gridCol>
                <a:gridCol w="2044351">
                  <a:extLst>
                    <a:ext uri="{9D8B030D-6E8A-4147-A177-3AD203B41FA5}">
                      <a16:colId xmlns:a16="http://schemas.microsoft.com/office/drawing/2014/main" val="20004"/>
                    </a:ext>
                  </a:extLst>
                </a:gridCol>
              </a:tblGrid>
              <a:tr h="523582">
                <a:tc>
                  <a:txBody>
                    <a:bodyPr/>
                    <a:lstStyle/>
                    <a:p>
                      <a:pPr algn="ctr" fontAlgn="ctr"/>
                      <a:r>
                        <a:rPr lang="en-IN" sz="1800" u="none" strike="noStrike">
                          <a:effectLst/>
                          <a:latin typeface="Times New Roman" panose="02020603050405020304" pitchFamily="18" charset="0"/>
                          <a:cs typeface="Times New Roman" panose="02020603050405020304" pitchFamily="18" charset="0"/>
                        </a:rPr>
                        <a:t>Ref. No</a:t>
                      </a:r>
                      <a:endParaRPr lang="en-IN" sz="1800" b="0" i="0" u="none" strike="noStrike">
                        <a:solidFill>
                          <a:srgbClr val="FFFFFF"/>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800" u="none" strike="noStrike">
                          <a:effectLst/>
                          <a:latin typeface="Times New Roman" panose="02020603050405020304" pitchFamily="18" charset="0"/>
                          <a:cs typeface="Times New Roman" panose="02020603050405020304" pitchFamily="18" charset="0"/>
                        </a:rPr>
                        <a:t>Title &amp; Author</a:t>
                      </a:r>
                      <a:endParaRPr lang="en-IN" sz="1800" b="0" i="0" u="none" strike="noStrike">
                        <a:solidFill>
                          <a:srgbClr val="FFFFFF"/>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800" u="none" strike="noStrike">
                          <a:effectLst/>
                          <a:latin typeface="Times New Roman" panose="02020603050405020304" pitchFamily="18" charset="0"/>
                          <a:cs typeface="Times New Roman" panose="02020603050405020304" pitchFamily="18" charset="0"/>
                        </a:rPr>
                        <a:t>Technique Used</a:t>
                      </a:r>
                      <a:endParaRPr lang="en-IN" sz="1800" b="0" i="0" u="none" strike="noStrike">
                        <a:solidFill>
                          <a:srgbClr val="FFFFFF"/>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800" u="none" strike="noStrike">
                          <a:effectLst/>
                          <a:latin typeface="Times New Roman" panose="02020603050405020304" pitchFamily="18" charset="0"/>
                          <a:cs typeface="Times New Roman" panose="02020603050405020304" pitchFamily="18" charset="0"/>
                        </a:rPr>
                        <a:t>Pros</a:t>
                      </a:r>
                      <a:endParaRPr lang="en-IN" sz="1800" b="0" i="0" u="none" strike="noStrike">
                        <a:solidFill>
                          <a:srgbClr val="FFFFFF"/>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800" u="none" strike="noStrike">
                          <a:effectLst/>
                          <a:latin typeface="Times New Roman" panose="02020603050405020304" pitchFamily="18" charset="0"/>
                          <a:cs typeface="Times New Roman" panose="02020603050405020304" pitchFamily="18" charset="0"/>
                        </a:rPr>
                        <a:t>Cons</a:t>
                      </a:r>
                      <a:endParaRPr lang="en-IN" sz="1800" b="0" i="0" u="none" strike="noStrike">
                        <a:solidFill>
                          <a:srgbClr val="FFFFFF"/>
                        </a:solidFill>
                        <a:effectLst/>
                        <a:latin typeface="Times New Roman" panose="02020603050405020304" pitchFamily="18" charset="0"/>
                        <a:cs typeface="Times New Roman" panose="02020603050405020304" pitchFamily="18" charset="0"/>
                      </a:endParaRPr>
                    </a:p>
                  </a:txBody>
                  <a:tcPr marL="9524" marR="9524" marT="9524" marB="0" anchor="ctr"/>
                </a:tc>
                <a:extLst>
                  <a:ext uri="{0D108BD9-81ED-4DB2-BD59-A6C34878D82A}">
                    <a16:rowId xmlns:a16="http://schemas.microsoft.com/office/drawing/2014/main" val="10000"/>
                  </a:ext>
                </a:extLst>
              </a:tr>
              <a:tr h="1115072">
                <a:tc>
                  <a:txBody>
                    <a:bodyPr/>
                    <a:lstStyle/>
                    <a:p>
                      <a:pPr algn="ctr" fontAlgn="ctr"/>
                      <a:r>
                        <a:rPr lang="en-IN" sz="1800" b="0" i="0" u="none" strike="noStrike">
                          <a:solidFill>
                            <a:srgbClr val="000000"/>
                          </a:solidFill>
                          <a:effectLst/>
                          <a:latin typeface="Times New Roman" panose="02020603050405020304" pitchFamily="18" charset="0"/>
                          <a:cs typeface="Times New Roman" panose="02020603050405020304" pitchFamily="18" charset="0"/>
                        </a:rPr>
                        <a:t>6</a:t>
                      </a:r>
                    </a:p>
                  </a:txBody>
                  <a:tcPr marL="9524" marR="9524" marT="9524" marB="0" anchor="ctr"/>
                </a:tc>
                <a:tc>
                  <a:txBody>
                    <a:bodyPr/>
                    <a:lstStyle/>
                    <a:p>
                      <a:pPr>
                        <a:buNone/>
                      </a:pPr>
                      <a:r>
                        <a:rPr lang="en-IN" sz="1800" i="1">
                          <a:latin typeface="Times New Roman" panose="02020603050405020304" pitchFamily="18" charset="0"/>
                          <a:cs typeface="Times New Roman" panose="02020603050405020304" pitchFamily="18" charset="0"/>
                        </a:rPr>
                        <a:t>Online Auction System Based on Web Technology</a:t>
                      </a:r>
                      <a:r>
                        <a:rPr lang="en-IN" sz="1800">
                          <a:latin typeface="Times New Roman" panose="02020603050405020304" pitchFamily="18" charset="0"/>
                          <a:cs typeface="Times New Roman" panose="02020603050405020304" pitchFamily="18" charset="0"/>
                        </a:rPr>
                        <a:t> – Zhang et al., 2019</a:t>
                      </a:r>
                    </a:p>
                  </a:txBody>
                  <a:tcPr anchor="ctr"/>
                </a:tc>
                <a:tc>
                  <a:txBody>
                    <a:bodyPr/>
                    <a:lstStyle/>
                    <a:p>
                      <a:pPr>
                        <a:buNone/>
                      </a:pPr>
                      <a:r>
                        <a:rPr lang="en-US" sz="1800">
                          <a:latin typeface="Times New Roman" panose="02020603050405020304" pitchFamily="18" charset="0"/>
                          <a:cs typeface="Times New Roman" panose="02020603050405020304" pitchFamily="18" charset="0"/>
                        </a:rPr>
                        <a:t>Web-based auction system using client–server architecture and database management</a:t>
                      </a:r>
                    </a:p>
                  </a:txBody>
                  <a:tcPr anchor="ctr"/>
                </a:tc>
                <a:tc>
                  <a:txBody>
                    <a:bodyPr/>
                    <a:lstStyle/>
                    <a:p>
                      <a:pPr>
                        <a:buNone/>
                      </a:pPr>
                      <a:r>
                        <a:rPr lang="en-US" sz="1800">
                          <a:latin typeface="Times New Roman" panose="02020603050405020304" pitchFamily="18" charset="0"/>
                          <a:cs typeface="Times New Roman" panose="02020603050405020304" pitchFamily="18" charset="0"/>
                        </a:rPr>
                        <a:t>Easy accessibility, supports online bidding from anywhere</a:t>
                      </a:r>
                    </a:p>
                  </a:txBody>
                  <a:tcPr anchor="ctr"/>
                </a:tc>
                <a:tc>
                  <a:txBody>
                    <a:bodyPr/>
                    <a:lstStyle/>
                    <a:p>
                      <a:pPr>
                        <a:buNone/>
                      </a:pPr>
                      <a:r>
                        <a:rPr lang="en-US" sz="1800">
                          <a:latin typeface="Times New Roman" panose="02020603050405020304" pitchFamily="18" charset="0"/>
                          <a:cs typeface="Times New Roman" panose="02020603050405020304" pitchFamily="18" charset="0"/>
                        </a:rPr>
                        <a:t>Security risks if authentication is weak</a:t>
                      </a:r>
                    </a:p>
                  </a:txBody>
                  <a:tcPr anchor="ctr"/>
                </a:tc>
                <a:extLst>
                  <a:ext uri="{0D108BD9-81ED-4DB2-BD59-A6C34878D82A}">
                    <a16:rowId xmlns:a16="http://schemas.microsoft.com/office/drawing/2014/main" val="10001"/>
                  </a:ext>
                </a:extLst>
              </a:tr>
              <a:tr h="1115072">
                <a:tc>
                  <a:txBody>
                    <a:bodyPr/>
                    <a:lstStyle/>
                    <a:p>
                      <a:pPr algn="ctr" fontAlgn="ctr"/>
                      <a:r>
                        <a:rPr lang="en-IN" sz="1800" u="none" strike="noStrike">
                          <a:effectLst/>
                          <a:latin typeface="Times New Roman" panose="02020603050405020304" pitchFamily="18" charset="0"/>
                          <a:cs typeface="Times New Roman" panose="02020603050405020304" pitchFamily="18" charset="0"/>
                        </a:rPr>
                        <a:t>7</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buNone/>
                      </a:pPr>
                      <a:r>
                        <a:rPr lang="en-IN" sz="1800" i="1">
                          <a:latin typeface="Times New Roman" panose="02020603050405020304" pitchFamily="18" charset="0"/>
                          <a:cs typeface="Times New Roman" panose="02020603050405020304" pitchFamily="18" charset="0"/>
                        </a:rPr>
                        <a:t>Online Auction System Based on Web Technology</a:t>
                      </a:r>
                      <a:r>
                        <a:rPr lang="en-IN" sz="1800">
                          <a:latin typeface="Times New Roman" panose="02020603050405020304" pitchFamily="18" charset="0"/>
                          <a:cs typeface="Times New Roman" panose="02020603050405020304" pitchFamily="18" charset="0"/>
                        </a:rPr>
                        <a:t> – Zhang et al., 2019</a:t>
                      </a:r>
                    </a:p>
                  </a:txBody>
                  <a:tcPr anchor="ctr"/>
                </a:tc>
                <a:tc>
                  <a:txBody>
                    <a:bodyPr/>
                    <a:lstStyle/>
                    <a:p>
                      <a:pPr>
                        <a:buNone/>
                      </a:pPr>
                      <a:r>
                        <a:rPr lang="en-US" sz="1800">
                          <a:latin typeface="Times New Roman" panose="02020603050405020304" pitchFamily="18" charset="0"/>
                          <a:cs typeface="Times New Roman" panose="02020603050405020304" pitchFamily="18" charset="0"/>
                        </a:rPr>
                        <a:t>Web-based auction system using client–server architecture and database management</a:t>
                      </a:r>
                    </a:p>
                  </a:txBody>
                  <a:tcPr anchor="ctr"/>
                </a:tc>
                <a:tc>
                  <a:txBody>
                    <a:bodyPr/>
                    <a:lstStyle/>
                    <a:p>
                      <a:pPr>
                        <a:buNone/>
                      </a:pPr>
                      <a:r>
                        <a:rPr lang="en-US" sz="1800">
                          <a:latin typeface="Times New Roman" panose="02020603050405020304" pitchFamily="18" charset="0"/>
                          <a:cs typeface="Times New Roman" panose="02020603050405020304" pitchFamily="18" charset="0"/>
                        </a:rPr>
                        <a:t>Easy accessibility, supports online bidding from anywhere</a:t>
                      </a:r>
                    </a:p>
                  </a:txBody>
                  <a:tcPr anchor="ctr"/>
                </a:tc>
                <a:tc>
                  <a:txBody>
                    <a:bodyPr/>
                    <a:lstStyle/>
                    <a:p>
                      <a:pPr>
                        <a:buNone/>
                      </a:pPr>
                      <a:r>
                        <a:rPr lang="en-US" sz="1800">
                          <a:latin typeface="Times New Roman" panose="02020603050405020304" pitchFamily="18" charset="0"/>
                          <a:cs typeface="Times New Roman" panose="02020603050405020304" pitchFamily="18" charset="0"/>
                        </a:rPr>
                        <a:t>Security risks if authentication is weak</a:t>
                      </a:r>
                    </a:p>
                  </a:txBody>
                  <a:tcPr anchor="ctr"/>
                </a:tc>
                <a:extLst>
                  <a:ext uri="{0D108BD9-81ED-4DB2-BD59-A6C34878D82A}">
                    <a16:rowId xmlns:a16="http://schemas.microsoft.com/office/drawing/2014/main" val="10002"/>
                  </a:ext>
                </a:extLst>
              </a:tr>
              <a:tr h="1115072">
                <a:tc>
                  <a:txBody>
                    <a:bodyPr/>
                    <a:lstStyle/>
                    <a:p>
                      <a:pPr algn="ctr" fontAlgn="ctr"/>
                      <a:r>
                        <a:rPr lang="en-IN" sz="1800" u="none" strike="noStrike">
                          <a:effectLst/>
                          <a:latin typeface="Times New Roman" panose="02020603050405020304" pitchFamily="18" charset="0"/>
                          <a:cs typeface="Times New Roman" panose="02020603050405020304" pitchFamily="18" charset="0"/>
                        </a:rPr>
                        <a:t>8</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buNone/>
                      </a:pPr>
                      <a:r>
                        <a:rPr lang="en-IN" sz="1800" i="1">
                          <a:latin typeface="Times New Roman" panose="02020603050405020304" pitchFamily="18" charset="0"/>
                          <a:cs typeface="Times New Roman" panose="02020603050405020304" pitchFamily="18" charset="0"/>
                        </a:rPr>
                        <a:t>Online Auction System Based on Web Technology</a:t>
                      </a:r>
                      <a:r>
                        <a:rPr lang="en-IN" sz="1800">
                          <a:latin typeface="Times New Roman" panose="02020603050405020304" pitchFamily="18" charset="0"/>
                          <a:cs typeface="Times New Roman" panose="02020603050405020304" pitchFamily="18" charset="0"/>
                        </a:rPr>
                        <a:t> – Zhang et al., 2019</a:t>
                      </a:r>
                    </a:p>
                  </a:txBody>
                  <a:tcPr anchor="ctr"/>
                </a:tc>
                <a:tc>
                  <a:txBody>
                    <a:bodyPr/>
                    <a:lstStyle/>
                    <a:p>
                      <a:pPr>
                        <a:buNone/>
                      </a:pPr>
                      <a:r>
                        <a:rPr lang="en-US" sz="1800">
                          <a:latin typeface="Times New Roman" panose="02020603050405020304" pitchFamily="18" charset="0"/>
                          <a:cs typeface="Times New Roman" panose="02020603050405020304" pitchFamily="18" charset="0"/>
                        </a:rPr>
                        <a:t>Web-based auction system using client–server architecture and database management</a:t>
                      </a:r>
                    </a:p>
                  </a:txBody>
                  <a:tcPr anchor="ctr"/>
                </a:tc>
                <a:tc>
                  <a:txBody>
                    <a:bodyPr/>
                    <a:lstStyle/>
                    <a:p>
                      <a:pPr>
                        <a:buNone/>
                      </a:pPr>
                      <a:r>
                        <a:rPr lang="en-US" sz="1800">
                          <a:latin typeface="Times New Roman" panose="02020603050405020304" pitchFamily="18" charset="0"/>
                          <a:cs typeface="Times New Roman" panose="02020603050405020304" pitchFamily="18" charset="0"/>
                        </a:rPr>
                        <a:t>Easy accessibility, supports online bidding from anywhere</a:t>
                      </a:r>
                    </a:p>
                  </a:txBody>
                  <a:tcPr anchor="ctr"/>
                </a:tc>
                <a:tc>
                  <a:txBody>
                    <a:bodyPr/>
                    <a:lstStyle/>
                    <a:p>
                      <a:pPr>
                        <a:buNone/>
                      </a:pPr>
                      <a:r>
                        <a:rPr lang="en-US" sz="1800">
                          <a:latin typeface="Times New Roman" panose="02020603050405020304" pitchFamily="18" charset="0"/>
                          <a:cs typeface="Times New Roman" panose="02020603050405020304" pitchFamily="18" charset="0"/>
                        </a:rPr>
                        <a:t>Security risks if authentication is weak</a:t>
                      </a:r>
                    </a:p>
                  </a:txBody>
                  <a:tcPr anchor="ctr"/>
                </a:tc>
                <a:extLst>
                  <a:ext uri="{0D108BD9-81ED-4DB2-BD59-A6C34878D82A}">
                    <a16:rowId xmlns:a16="http://schemas.microsoft.com/office/drawing/2014/main" val="10003"/>
                  </a:ext>
                </a:extLst>
              </a:tr>
              <a:tr h="1115072">
                <a:tc>
                  <a:txBody>
                    <a:bodyPr/>
                    <a:lstStyle/>
                    <a:p>
                      <a:pPr algn="ctr" fontAlgn="ctr"/>
                      <a:r>
                        <a:rPr lang="en-IN" sz="1800" u="none" strike="noStrike">
                          <a:effectLst/>
                          <a:latin typeface="Times New Roman" panose="02020603050405020304" pitchFamily="18" charset="0"/>
                          <a:cs typeface="Times New Roman" panose="02020603050405020304" pitchFamily="18" charset="0"/>
                        </a:rPr>
                        <a:t>9</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buNone/>
                      </a:pPr>
                      <a:r>
                        <a:rPr lang="en-IN" sz="1800" i="1">
                          <a:latin typeface="Times New Roman" panose="02020603050405020304" pitchFamily="18" charset="0"/>
                          <a:cs typeface="Times New Roman" panose="02020603050405020304" pitchFamily="18" charset="0"/>
                        </a:rPr>
                        <a:t>Online Auction System Based on Web Technology</a:t>
                      </a:r>
                      <a:r>
                        <a:rPr lang="en-IN" sz="1800">
                          <a:latin typeface="Times New Roman" panose="02020603050405020304" pitchFamily="18" charset="0"/>
                          <a:cs typeface="Times New Roman" panose="02020603050405020304" pitchFamily="18" charset="0"/>
                        </a:rPr>
                        <a:t> – Zhang et al., 2019</a:t>
                      </a:r>
                    </a:p>
                  </a:txBody>
                  <a:tcPr anchor="ctr"/>
                </a:tc>
                <a:tc>
                  <a:txBody>
                    <a:bodyPr/>
                    <a:lstStyle/>
                    <a:p>
                      <a:pPr>
                        <a:buNone/>
                      </a:pPr>
                      <a:r>
                        <a:rPr lang="en-US" sz="1800">
                          <a:latin typeface="Times New Roman" panose="02020603050405020304" pitchFamily="18" charset="0"/>
                          <a:cs typeface="Times New Roman" panose="02020603050405020304" pitchFamily="18" charset="0"/>
                        </a:rPr>
                        <a:t>Web-based auction system using client–server architecture and database management</a:t>
                      </a:r>
                    </a:p>
                  </a:txBody>
                  <a:tcPr anchor="ctr"/>
                </a:tc>
                <a:tc>
                  <a:txBody>
                    <a:bodyPr/>
                    <a:lstStyle/>
                    <a:p>
                      <a:pPr>
                        <a:buNone/>
                      </a:pPr>
                      <a:r>
                        <a:rPr lang="en-US" sz="1800">
                          <a:latin typeface="Times New Roman" panose="02020603050405020304" pitchFamily="18" charset="0"/>
                          <a:cs typeface="Times New Roman" panose="02020603050405020304" pitchFamily="18" charset="0"/>
                        </a:rPr>
                        <a:t>Easy accessibility, supports online bidding from anywhere</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Security risks if authentication is weak</a:t>
                      </a:r>
                    </a:p>
                  </a:txBody>
                  <a:tcPr anchor="ctr"/>
                </a:tc>
                <a:extLst>
                  <a:ext uri="{0D108BD9-81ED-4DB2-BD59-A6C34878D82A}">
                    <a16:rowId xmlns:a16="http://schemas.microsoft.com/office/drawing/2014/main" val="10004"/>
                  </a:ext>
                </a:extLst>
              </a:tr>
            </a:tbl>
          </a:graphicData>
        </a:graphic>
      </p:graphicFrame>
      <p:sp>
        <p:nvSpPr>
          <p:cNvPr id="2" name="Footer Placeholder 1"/>
          <p:cNvSpPr txBox="1">
            <a:spLocks noGrp="1"/>
          </p:cNvSpPr>
          <p:nvPr>
            <p:ph type="ftr" sz="quarter" idx="11"/>
          </p:nvPr>
        </p:nvSpPr>
        <p:spPr>
          <a:noFill/>
        </p:spPr>
        <p:txBody>
          <a:bodyPr anchor="ctr" anchorCtr="0"/>
          <a:lstStyle/>
          <a:p>
            <a:pPr>
              <a:defRPr/>
            </a:pPr>
            <a:endParaRPr lang="en-IN" altLang="en-US" dirty="0">
              <a:sym typeface="+mn-ea"/>
            </a:endParaRPr>
          </a:p>
          <a:p>
            <a:pPr>
              <a:defRPr/>
            </a:pPr>
            <a:r>
              <a:rPr lang="en-IN" altLang="en-US" dirty="0"/>
              <a:t>FIRST REVIEW</a:t>
            </a:r>
            <a:r>
              <a:rPr lang="en-US" dirty="0"/>
              <a:t> – PROJECT STAGE 2</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dirty="0">
              <a:ln>
                <a:noFill/>
              </a:ln>
              <a:solidFill>
                <a:schemeClr val="tx2"/>
              </a:solidFill>
              <a:effectLst/>
              <a:uLnTx/>
              <a:uFillTx/>
              <a:latin typeface="+mn-lt"/>
              <a:ea typeface="+mn-ea"/>
              <a:cs typeface="+mn-cs"/>
            </a:endParaRPr>
          </a:p>
        </p:txBody>
      </p:sp>
      <p:pic>
        <p:nvPicPr>
          <p:cNvPr id="16435" name="Google Shape;22642;p14" descr="BIET-Bharat Institute of Engineering and Technology"/>
          <p:cNvPicPr preferRelativeResize="0">
            <a:picLocks noChangeAspect="1"/>
          </p:cNvPicPr>
          <p:nvPr/>
        </p:nvPicPr>
        <p:blipFill>
          <a:blip r:embed="rId2"/>
          <a:stretch>
            <a:fillRect/>
          </a:stretch>
        </p:blipFill>
        <p:spPr>
          <a:xfrm>
            <a:off x="11049000" y="204788"/>
            <a:ext cx="584200" cy="520700"/>
          </a:xfrm>
          <a:prstGeom prst="rect">
            <a:avLst/>
          </a:prstGeom>
          <a:noFill/>
          <a:ln w="9525">
            <a:noFill/>
          </a:ln>
        </p:spPr>
      </p:pic>
      <p:pic>
        <p:nvPicPr>
          <p:cNvPr id="3" name="Google Shape;22642;p14" descr="BIET-Bharat Institute of Engineering and Technology"/>
          <p:cNvPicPr preferRelativeResize="0">
            <a:picLocks noChangeAspect="1"/>
          </p:cNvPicPr>
          <p:nvPr/>
        </p:nvPicPr>
        <p:blipFill>
          <a:blip r:embed="rId2"/>
          <a:stretch>
            <a:fillRect/>
          </a:stretch>
        </p:blipFill>
        <p:spPr>
          <a:xfrm flipH="1">
            <a:off x="11031747" y="222041"/>
            <a:ext cx="550653" cy="520700"/>
          </a:xfrm>
          <a:prstGeom prst="rect">
            <a:avLst/>
          </a:prstGeom>
          <a:noFill/>
          <a:ln w="9525">
            <a:noFill/>
          </a:ln>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txBox="1">
            <a:spLocks noGrp="1"/>
          </p:cNvSpPr>
          <p:nvPr>
            <p:ph type="dt" sz="half" idx="10"/>
          </p:nvPr>
        </p:nvSpPr>
        <p:spPr>
          <a:noFill/>
        </p:spPr>
        <p:txBody>
          <a:bodyPr anchor="ctr" anchorCtr="0"/>
          <a:lstStyle/>
          <a:p>
            <a:pPr lvl="0" algn="ctr" eaLnBrk="1" hangingPunct="1"/>
            <a:r>
              <a:rPr lang="en-US" altLang="en-US">
                <a:sym typeface="+mn-ea"/>
              </a:rPr>
              <a:t>Date:07-03-2026</a:t>
            </a: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3" name="Footer Placeholder 2"/>
          <p:cNvSpPr txBox="1">
            <a:spLocks noGrp="1"/>
          </p:cNvSpPr>
          <p:nvPr>
            <p:ph type="ftr" sz="quarter" idx="11"/>
          </p:nvPr>
        </p:nvSpPr>
        <p:spPr>
          <a:noFill/>
        </p:spPr>
        <p:txBody>
          <a:bodyPr anchor="ctr" anchorCtr="0"/>
          <a:lstStyle/>
          <a:p>
            <a:pPr>
              <a:defRPr/>
            </a:pPr>
            <a:endParaRPr lang="en-IN" altLang="en-US"/>
          </a:p>
          <a:p>
            <a:pPr>
              <a:defRPr/>
            </a:pPr>
            <a:r>
              <a:rPr lang="en-IN" altLang="en-US"/>
              <a:t>FIRST REVIEW</a:t>
            </a:r>
            <a:r>
              <a:rPr lang="en-US"/>
              <a:t> – PROJECT STAGE 2</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4" name="Slide Number Placeholder 3"/>
          <p:cNvSpPr txBox="1">
            <a:spLocks noGrp="1"/>
          </p:cNvSpPr>
          <p:nvPr>
            <p:ph type="sldNum" sz="quarter" idx="12"/>
          </p:nvPr>
        </p:nvSpPr>
        <p:spPr/>
        <p:txBody>
          <a:bodyPr vert="horz" wrap="none" lIns="0" tIns="0" rIns="0" bIns="0" numCol="1" anchor="ctr" anchorCtr="1"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buNone/>
            </a:pPr>
            <a:fld id="{9A0DB2DC-4C9A-4742-B13C-FB6460FD3503}" type="slidenum">
              <a:rPr lang="en-US" altLang="en-US" sz="1400" dirty="0">
                <a:solidFill>
                  <a:schemeClr val="bg1"/>
                </a:solidFill>
                <a:latin typeface="Century Gothic" panose="020B0502020202020204" pitchFamily="34" charset="0"/>
              </a:rPr>
              <a:t>7</a:t>
            </a:fld>
            <a:endParaRPr lang="en-US" altLang="en-US" sz="1400">
              <a:solidFill>
                <a:schemeClr val="bg1"/>
              </a:solidFill>
              <a:latin typeface="Century Gothic" panose="020B0502020202020204" pitchFamily="34" charset="0"/>
            </a:endParaRPr>
          </a:p>
        </p:txBody>
      </p:sp>
      <p:sp>
        <p:nvSpPr>
          <p:cNvPr id="5" name="Title 6"/>
          <p:cNvSpPr txBox="1"/>
          <p:nvPr/>
        </p:nvSpPr>
        <p:spPr>
          <a:xfrm>
            <a:off x="890588" y="261938"/>
            <a:ext cx="10363200" cy="838200"/>
          </a:xfrm>
          <a:prstGeom prst="rect">
            <a:avLst/>
          </a:prstGeom>
        </p:spPr>
        <p:txBody>
          <a:bodyPr>
            <a:normAutofit/>
          </a:bodyPr>
          <a:lst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entury Gothic" panose="020B0502020202020204" pitchFamily="34" charset="0"/>
              </a:defRPr>
            </a:lvl2pPr>
            <a:lvl3pPr algn="l" rtl="0" eaLnBrk="0" fontAlgn="base" hangingPunct="0">
              <a:spcBef>
                <a:spcPct val="0"/>
              </a:spcBef>
              <a:spcAft>
                <a:spcPct val="0"/>
              </a:spcAft>
              <a:defRPr sz="4000">
                <a:solidFill>
                  <a:schemeClr val="tx2"/>
                </a:solidFill>
                <a:latin typeface="Century Gothic" panose="020B0502020202020204" pitchFamily="34" charset="0"/>
              </a:defRPr>
            </a:lvl3pPr>
            <a:lvl4pPr algn="l" rtl="0" eaLnBrk="0" fontAlgn="base" hangingPunct="0">
              <a:spcBef>
                <a:spcPct val="0"/>
              </a:spcBef>
              <a:spcAft>
                <a:spcPct val="0"/>
              </a:spcAft>
              <a:defRPr sz="4000">
                <a:solidFill>
                  <a:schemeClr val="tx2"/>
                </a:solidFill>
                <a:latin typeface="Century Gothic" panose="020B0502020202020204" pitchFamily="34" charset="0"/>
              </a:defRPr>
            </a:lvl4pPr>
            <a:lvl5pPr algn="l" rtl="0" eaLnBrk="0" fontAlgn="base" hangingPunct="0">
              <a:spcBef>
                <a:spcPct val="0"/>
              </a:spcBef>
              <a:spcAft>
                <a:spcPct val="0"/>
              </a:spcAft>
              <a:defRPr sz="4000">
                <a:solidFill>
                  <a:schemeClr val="tx2"/>
                </a:solidFill>
                <a:latin typeface="Century Gothic" panose="020B0502020202020204" pitchFamily="34" charset="0"/>
              </a:defRPr>
            </a:lvl5pPr>
            <a:lvl6pPr marL="457200" algn="l" rtl="0" fontAlgn="base">
              <a:spcBef>
                <a:spcPct val="0"/>
              </a:spcBef>
              <a:spcAft>
                <a:spcPct val="0"/>
              </a:spcAft>
              <a:defRPr sz="4000">
                <a:solidFill>
                  <a:schemeClr val="tx2"/>
                </a:solidFill>
                <a:latin typeface="Century Gothic" panose="020B0502020202020204" pitchFamily="34" charset="0"/>
              </a:defRPr>
            </a:lvl6pPr>
            <a:lvl7pPr marL="914400" algn="l" rtl="0" fontAlgn="base">
              <a:spcBef>
                <a:spcPct val="0"/>
              </a:spcBef>
              <a:spcAft>
                <a:spcPct val="0"/>
              </a:spcAft>
              <a:defRPr sz="4000">
                <a:solidFill>
                  <a:schemeClr val="tx2"/>
                </a:solidFill>
                <a:latin typeface="Century Gothic" panose="020B0502020202020204" pitchFamily="34" charset="0"/>
              </a:defRPr>
            </a:lvl7pPr>
            <a:lvl8pPr marL="1371600" algn="l" rtl="0" fontAlgn="base">
              <a:spcBef>
                <a:spcPct val="0"/>
              </a:spcBef>
              <a:spcAft>
                <a:spcPct val="0"/>
              </a:spcAft>
              <a:defRPr sz="4000">
                <a:solidFill>
                  <a:schemeClr val="tx2"/>
                </a:solidFill>
                <a:latin typeface="Century Gothic" panose="020B0502020202020204" pitchFamily="34" charset="0"/>
              </a:defRPr>
            </a:lvl8pPr>
            <a:lvl9pPr marL="1828800" algn="l" rtl="0" fontAlgn="base">
              <a:spcBef>
                <a:spcPct val="0"/>
              </a:spcBef>
              <a:spcAft>
                <a:spcPct val="0"/>
              </a:spcAft>
              <a:defRPr sz="4000">
                <a:solidFill>
                  <a:schemeClr val="tx2"/>
                </a:solidFill>
                <a:latin typeface="Century Gothic" panose="020B0502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IN" sz="4000" b="0" i="0" u="none" strike="noStrike" kern="1200" cap="none" spc="0" normalizeH="0" baseline="0" noProof="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Functional Layout</a:t>
            </a:r>
          </a:p>
        </p:txBody>
      </p:sp>
      <p:pic>
        <p:nvPicPr>
          <p:cNvPr id="17415" name="Google Shape;22642;p14" descr="BIET-Bharat Institute of Engineering and Technology"/>
          <p:cNvPicPr preferRelativeResize="0">
            <a:picLocks noChangeAspect="1"/>
          </p:cNvPicPr>
          <p:nvPr/>
        </p:nvPicPr>
        <p:blipFill>
          <a:blip r:embed="rId2"/>
          <a:stretch>
            <a:fillRect/>
          </a:stretch>
        </p:blipFill>
        <p:spPr>
          <a:xfrm>
            <a:off x="11049000" y="204788"/>
            <a:ext cx="584200" cy="520700"/>
          </a:xfrm>
          <a:prstGeom prst="rect">
            <a:avLst/>
          </a:prstGeom>
          <a:noFill/>
          <a:ln w="9525">
            <a:noFill/>
          </a:ln>
        </p:spPr>
      </p:pic>
      <p:pic>
        <p:nvPicPr>
          <p:cNvPr id="9" name="Google Shape;22642;p14" descr="BIET-Bharat Institute of Engineering and Technology"/>
          <p:cNvPicPr preferRelativeResize="0">
            <a:picLocks noChangeAspect="1"/>
          </p:cNvPicPr>
          <p:nvPr/>
        </p:nvPicPr>
        <p:blipFill>
          <a:blip r:embed="rId2"/>
          <a:stretch>
            <a:fillRect/>
          </a:stretch>
        </p:blipFill>
        <p:spPr>
          <a:xfrm flipH="1">
            <a:off x="11031747" y="222041"/>
            <a:ext cx="550653" cy="520700"/>
          </a:xfrm>
          <a:prstGeom prst="rect">
            <a:avLst/>
          </a:prstGeom>
          <a:noFill/>
          <a:ln w="9525">
            <a:noFill/>
          </a:ln>
        </p:spPr>
      </p:pic>
      <p:pic>
        <p:nvPicPr>
          <p:cNvPr id="10" name="Picture 9">
            <a:extLst>
              <a:ext uri="{FF2B5EF4-FFF2-40B4-BE49-F238E27FC236}">
                <a16:creationId xmlns:a16="http://schemas.microsoft.com/office/drawing/2014/main" id="{6EB72316-8283-BE4A-BEA5-F88B028E8D6D}"/>
              </a:ext>
            </a:extLst>
          </p:cNvPr>
          <p:cNvPicPr>
            <a:picLocks noChangeAspect="1"/>
          </p:cNvPicPr>
          <p:nvPr/>
        </p:nvPicPr>
        <p:blipFill>
          <a:blip r:embed="rId3">
            <a:extLst>
              <a:ext uri="{28A0092B-C50C-407E-A947-70E740481C1C}">
                <a14:useLocalDpi xmlns:a14="http://schemas.microsoft.com/office/drawing/2010/main" val="0"/>
              </a:ext>
            </a:extLst>
          </a:blip>
          <a:srcRect b="23357"/>
          <a:stretch>
            <a:fillRect/>
          </a:stretch>
        </p:blipFill>
        <p:spPr>
          <a:xfrm>
            <a:off x="3786572" y="1213806"/>
            <a:ext cx="4571231" cy="4125110"/>
          </a:xfrm>
          <a:prstGeom prst="rect">
            <a:avLst/>
          </a:prstGeom>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Date Placeholder 8"/>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r>
              <a:rPr lang="en-US" altLang="en-US" sz="1400" dirty="0">
                <a:solidFill>
                  <a:schemeClr val="tx2"/>
                </a:solidFill>
                <a:sym typeface="+mn-ea"/>
              </a:rPr>
              <a:t>Date:07-03-2026</a:t>
            </a:r>
            <a:endParaRPr lang="en-US" altLang="en-US" sz="1400" dirty="0">
              <a:solidFill>
                <a:schemeClr val="tx2"/>
              </a:solidFill>
            </a:endParaRPr>
          </a:p>
        </p:txBody>
      </p:sp>
      <p:sp>
        <p:nvSpPr>
          <p:cNvPr id="11" name="Slide Number Placeholder 10"/>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t>8</a:t>
            </a:fld>
            <a:endParaRPr lang="en-US" altLang="en-US" sz="1400">
              <a:solidFill>
                <a:schemeClr val="bg1"/>
              </a:solidFill>
              <a:latin typeface="Century Gothic" panose="020B0502020202020204" pitchFamily="34" charset="0"/>
            </a:endParaRPr>
          </a:p>
        </p:txBody>
      </p:sp>
      <p:sp>
        <p:nvSpPr>
          <p:cNvPr id="2" name="Title 1"/>
          <p:cNvSpPr>
            <a:spLocks noGrp="1"/>
          </p:cNvSpPr>
          <p:nvPr>
            <p:ph type="title"/>
          </p:nvPr>
        </p:nvSpPr>
        <p:spPr>
          <a:xfrm>
            <a:off x="397668" y="84318"/>
            <a:ext cx="11396663" cy="1066800"/>
          </a:xfrm>
        </p:spPr>
        <p:txBody>
          <a:bodyPr vert="horz" wrap="square" lIns="91440" tIns="45720" rIns="91440" bIns="91440" numCol="1" anchor="b" anchorCtr="0" compatLnSpc="1">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IN" sz="4000" b="0" i="0" u="none" strike="noStrike" kern="1200" cap="none" spc="0" normalizeH="0" baseline="0" noProof="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Objective</a:t>
            </a:r>
          </a:p>
        </p:txBody>
      </p:sp>
      <p:sp>
        <p:nvSpPr>
          <p:cNvPr id="18438" name="Footer Placeholder 11"/>
          <p:cNvSpPr txBox="1"/>
          <p:nvPr/>
        </p:nvSpPr>
        <p:spPr>
          <a:xfrm>
            <a:off x="966788" y="6400800"/>
            <a:ext cx="5283200" cy="457200"/>
          </a:xfrm>
          <a:prstGeom prst="rect">
            <a:avLst/>
          </a:prstGeom>
          <a:noFill/>
          <a:ln w="9525">
            <a:noFill/>
          </a:ln>
        </p:spPr>
        <p:txBody>
          <a:bodyPr anchor="ctr" anchorCtr="0"/>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en-US" altLang="en-US" sz="1400">
              <a:solidFill>
                <a:schemeClr val="tx2"/>
              </a:solidFill>
            </a:endParaRPr>
          </a:p>
        </p:txBody>
      </p:sp>
      <p:sp>
        <p:nvSpPr>
          <p:cNvPr id="3" name="Footer Placeholder 2"/>
          <p:cNvSpPr txBox="1">
            <a:spLocks noGrp="1"/>
          </p:cNvSpPr>
          <p:nvPr>
            <p:ph type="ftr" sz="quarter" idx="11"/>
          </p:nvPr>
        </p:nvSpPr>
        <p:spPr>
          <a:noFill/>
        </p:spPr>
        <p:txBody>
          <a:bodyPr anchor="ctr" anchorCtr="0"/>
          <a:lstStyle/>
          <a:p>
            <a:pPr>
              <a:defRPr/>
            </a:pPr>
            <a:endParaRPr lang="en-IN" altLang="en-US"/>
          </a:p>
          <a:p>
            <a:pPr>
              <a:defRPr/>
            </a:pPr>
            <a:r>
              <a:rPr lang="en-IN" altLang="en-US"/>
              <a:t>FIRST REVIEW</a:t>
            </a:r>
            <a:r>
              <a:rPr lang="en-US"/>
              <a:t> – PROJECT STAGE 2</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pic>
        <p:nvPicPr>
          <p:cNvPr id="18440" name="Google Shape;22642;p14" descr="BIET-Bharat Institute of Engineering and Technology"/>
          <p:cNvPicPr preferRelativeResize="0">
            <a:picLocks noChangeAspect="1"/>
          </p:cNvPicPr>
          <p:nvPr/>
        </p:nvPicPr>
        <p:blipFill>
          <a:blip r:embed="rId2"/>
          <a:stretch>
            <a:fillRect/>
          </a:stretch>
        </p:blipFill>
        <p:spPr>
          <a:xfrm>
            <a:off x="11049000" y="204788"/>
            <a:ext cx="584200" cy="520700"/>
          </a:xfrm>
          <a:prstGeom prst="rect">
            <a:avLst/>
          </a:prstGeom>
          <a:noFill/>
          <a:ln w="9525">
            <a:noFill/>
          </a:ln>
        </p:spPr>
      </p:pic>
      <p:sp>
        <p:nvSpPr>
          <p:cNvPr id="7" name="Rectangle 3"/>
          <p:cNvSpPr>
            <a:spLocks noGrp="1" noChangeArrowheads="1"/>
          </p:cNvSpPr>
          <p:nvPr>
            <p:ph sz="quarter" idx="1"/>
          </p:nvPr>
        </p:nvSpPr>
        <p:spPr bwMode="auto">
          <a:xfrm>
            <a:off x="1219200" y="1528479"/>
            <a:ext cx="8816568" cy="3801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sz="1800" dirty="0">
                <a:latin typeface="Times New Roman" panose="02020603050405020304" pitchFamily="18" charset="0"/>
                <a:cs typeface="Times New Roman" panose="02020603050405020304" pitchFamily="18" charset="0"/>
              </a:rPr>
              <a:t>To design and develop a </a:t>
            </a:r>
            <a:r>
              <a:rPr lang="en-US" sz="1800" b="1" dirty="0">
                <a:latin typeface="Times New Roman" panose="02020603050405020304" pitchFamily="18" charset="0"/>
                <a:cs typeface="Times New Roman" panose="02020603050405020304" pitchFamily="18" charset="0"/>
              </a:rPr>
              <a:t>secure and user-friendly online auction platform</a:t>
            </a:r>
            <a:r>
              <a:rPr lang="en-US" sz="1800" dirty="0">
                <a:latin typeface="Times New Roman" panose="02020603050405020304" pitchFamily="18" charset="0"/>
                <a:cs typeface="Times New Roman" panose="02020603050405020304" pitchFamily="18" charset="0"/>
              </a:rPr>
              <a:t> that allows users to participate in auctions through the internet.</a:t>
            </a:r>
          </a:p>
          <a:p>
            <a:r>
              <a:rPr lang="en-US" sz="1800" dirty="0">
                <a:latin typeface="Times New Roman" panose="02020603050405020304" pitchFamily="18" charset="0"/>
                <a:cs typeface="Times New Roman" panose="02020603050405020304" pitchFamily="18" charset="0"/>
              </a:rPr>
              <a:t>To enable </a:t>
            </a:r>
            <a:r>
              <a:rPr lang="en-US" sz="1800" b="1" dirty="0">
                <a:latin typeface="Times New Roman" panose="02020603050405020304" pitchFamily="18" charset="0"/>
                <a:cs typeface="Times New Roman" panose="02020603050405020304" pitchFamily="18" charset="0"/>
              </a:rPr>
              <a:t>real-time bidding</a:t>
            </a:r>
            <a:r>
              <a:rPr lang="en-US" sz="1800" dirty="0">
                <a:latin typeface="Times New Roman" panose="02020603050405020304" pitchFamily="18" charset="0"/>
                <a:cs typeface="Times New Roman" panose="02020603050405020304" pitchFamily="18" charset="0"/>
              </a:rPr>
              <a:t> where multiple users can place bids on products and view live bid updates.</a:t>
            </a:r>
          </a:p>
          <a:p>
            <a:r>
              <a:rPr lang="en-US" sz="1800" dirty="0">
                <a:latin typeface="Times New Roman" panose="02020603050405020304" pitchFamily="18" charset="0"/>
                <a:cs typeface="Times New Roman" panose="02020603050405020304" pitchFamily="18" charset="0"/>
              </a:rPr>
              <a:t>To provide a </a:t>
            </a:r>
            <a:r>
              <a:rPr lang="en-US" sz="1800" b="1" dirty="0">
                <a:latin typeface="Times New Roman" panose="02020603050405020304" pitchFamily="18" charset="0"/>
                <a:cs typeface="Times New Roman" panose="02020603050405020304" pitchFamily="18" charset="0"/>
              </a:rPr>
              <a:t>transparent auction process</a:t>
            </a:r>
            <a:r>
              <a:rPr lang="en-US" sz="1800" dirty="0">
                <a:latin typeface="Times New Roman" panose="02020603050405020304" pitchFamily="18" charset="0"/>
                <a:cs typeface="Times New Roman" panose="02020603050405020304" pitchFamily="18" charset="0"/>
              </a:rPr>
              <a:t> by displaying bid history and auction status to all participants.</a:t>
            </a:r>
          </a:p>
          <a:p>
            <a:r>
              <a:rPr lang="en-US" sz="1800" dirty="0">
                <a:latin typeface="Times New Roman" panose="02020603050405020304" pitchFamily="18" charset="0"/>
                <a:cs typeface="Times New Roman" panose="02020603050405020304" pitchFamily="18" charset="0"/>
              </a:rPr>
              <a:t>To implement </a:t>
            </a:r>
            <a:r>
              <a:rPr lang="en-US" sz="1800" b="1" dirty="0">
                <a:latin typeface="Times New Roman" panose="02020603050405020304" pitchFamily="18" charset="0"/>
                <a:cs typeface="Times New Roman" panose="02020603050405020304" pitchFamily="18" charset="0"/>
              </a:rPr>
              <a:t>secure user authentication and authorization</a:t>
            </a:r>
            <a:r>
              <a:rPr lang="en-US" sz="1800" dirty="0">
                <a:latin typeface="Times New Roman" panose="02020603050405020304" pitchFamily="18" charset="0"/>
                <a:cs typeface="Times New Roman" panose="02020603050405020304" pitchFamily="18" charset="0"/>
              </a:rPr>
              <a:t> to protect user data and transactions.</a:t>
            </a:r>
          </a:p>
          <a:p>
            <a:r>
              <a:rPr lang="en-US" sz="1800" dirty="0">
                <a:latin typeface="Times New Roman" panose="02020603050405020304" pitchFamily="18" charset="0"/>
                <a:cs typeface="Times New Roman" panose="02020603050405020304" pitchFamily="18" charset="0"/>
              </a:rPr>
              <a:t>To automate the </a:t>
            </a:r>
            <a:r>
              <a:rPr lang="en-US" sz="1800" b="1" dirty="0">
                <a:latin typeface="Times New Roman" panose="02020603050405020304" pitchFamily="18" charset="0"/>
                <a:cs typeface="Times New Roman" panose="02020603050405020304" pitchFamily="18" charset="0"/>
              </a:rPr>
              <a:t>winner selection process</a:t>
            </a:r>
            <a:r>
              <a:rPr lang="en-US" sz="1800" dirty="0">
                <a:latin typeface="Times New Roman" panose="02020603050405020304" pitchFamily="18" charset="0"/>
                <a:cs typeface="Times New Roman" panose="02020603050405020304" pitchFamily="18" charset="0"/>
              </a:rPr>
              <a:t> based on the highest bid when the auction time ends.</a:t>
            </a:r>
          </a:p>
          <a:p>
            <a:r>
              <a:rPr lang="en-US" sz="1800" dirty="0">
                <a:latin typeface="Times New Roman" panose="02020603050405020304" pitchFamily="18" charset="0"/>
                <a:cs typeface="Times New Roman" panose="02020603050405020304" pitchFamily="18" charset="0"/>
              </a:rPr>
              <a:t>To create a </a:t>
            </a:r>
            <a:r>
              <a:rPr lang="en-US" sz="1800" b="1" dirty="0">
                <a:latin typeface="Times New Roman" panose="02020603050405020304" pitchFamily="18" charset="0"/>
                <a:cs typeface="Times New Roman" panose="02020603050405020304" pitchFamily="18" charset="0"/>
              </a:rPr>
              <a:t>scalable and efficient system</a:t>
            </a:r>
            <a:r>
              <a:rPr lang="en-US" sz="1800" dirty="0">
                <a:latin typeface="Times New Roman" panose="02020603050405020304" pitchFamily="18" charset="0"/>
                <a:cs typeface="Times New Roman" panose="02020603050405020304" pitchFamily="18" charset="0"/>
              </a:rPr>
              <a:t> that supports multiple users and auctions simultaneously.</a:t>
            </a:r>
          </a:p>
        </p:txBody>
      </p:sp>
      <p:pic>
        <p:nvPicPr>
          <p:cNvPr id="8" name="Google Shape;22642;p14" descr="BIET-Bharat Institute of Engineering and Technology"/>
          <p:cNvPicPr preferRelativeResize="0">
            <a:picLocks noChangeAspect="1"/>
          </p:cNvPicPr>
          <p:nvPr/>
        </p:nvPicPr>
        <p:blipFill>
          <a:blip r:embed="rId2"/>
          <a:stretch>
            <a:fillRect/>
          </a:stretch>
        </p:blipFill>
        <p:spPr>
          <a:xfrm flipH="1">
            <a:off x="11031747" y="222041"/>
            <a:ext cx="550653" cy="520700"/>
          </a:xfrm>
          <a:prstGeom prst="rect">
            <a:avLst/>
          </a:prstGeom>
          <a:noFill/>
          <a:ln w="9525">
            <a:noFill/>
          </a:ln>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txBox="1">
            <a:spLocks noGrp="1"/>
          </p:cNvSpPr>
          <p:nvPr>
            <p:ph type="dt" sz="half" idx="10"/>
          </p:nvPr>
        </p:nvSpPr>
        <p:spPr>
          <a:noFill/>
        </p:spPr>
        <p:txBody>
          <a:bodyPr anchor="ctr" anchorCtr="0"/>
          <a:lstStyle/>
          <a:p>
            <a:pPr lvl="0" algn="ctr" eaLnBrk="1" hangingPunct="1"/>
            <a:r>
              <a:rPr lang="en-US" altLang="en-US">
                <a:sym typeface="+mn-ea"/>
              </a:rPr>
              <a:t>Date:07-03-2026</a:t>
            </a: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3" name="Footer Placeholder 2"/>
          <p:cNvSpPr txBox="1">
            <a:spLocks noGrp="1"/>
          </p:cNvSpPr>
          <p:nvPr>
            <p:ph type="ftr" sz="quarter" idx="11"/>
          </p:nvPr>
        </p:nvSpPr>
        <p:spPr>
          <a:noFill/>
        </p:spPr>
        <p:txBody>
          <a:bodyPr anchor="ctr" anchorCtr="0"/>
          <a:lstStyle/>
          <a:p>
            <a:pPr>
              <a:defRPr/>
            </a:pPr>
            <a:endParaRPr lang="en-IN" altLang="en-US"/>
          </a:p>
          <a:p>
            <a:pPr>
              <a:defRPr/>
            </a:pPr>
            <a:r>
              <a:rPr lang="en-IN" altLang="en-US"/>
              <a:t>FIRST REVIEW</a:t>
            </a:r>
            <a:r>
              <a:rPr lang="en-US"/>
              <a:t> – PROJECT STAGE 2</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4" name="Slide Number Placeholder 3"/>
          <p:cNvSpPr txBox="1">
            <a:spLocks noGrp="1"/>
          </p:cNvSpPr>
          <p:nvPr>
            <p:ph type="sldNum" sz="quarter" idx="12"/>
          </p:nvPr>
        </p:nvSpPr>
        <p:spPr/>
        <p:txBody>
          <a:bodyPr vert="horz" wrap="none" lIns="0" tIns="0" rIns="0" bIns="0" numCol="1" anchor="ctr" anchorCtr="1"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buNone/>
            </a:pPr>
            <a:fld id="{9A0DB2DC-4C9A-4742-B13C-FB6460FD3503}" type="slidenum">
              <a:rPr lang="en-US" altLang="en-US" sz="1400" dirty="0">
                <a:solidFill>
                  <a:schemeClr val="bg1"/>
                </a:solidFill>
                <a:latin typeface="Century Gothic" panose="020B0502020202020204" pitchFamily="34" charset="0"/>
              </a:rPr>
              <a:t>9</a:t>
            </a:fld>
            <a:endParaRPr lang="en-US" altLang="en-US" sz="1400">
              <a:solidFill>
                <a:schemeClr val="bg1"/>
              </a:solidFill>
              <a:latin typeface="Century Gothic" panose="020B0502020202020204" pitchFamily="34" charset="0"/>
            </a:endParaRPr>
          </a:p>
        </p:txBody>
      </p:sp>
      <p:sp>
        <p:nvSpPr>
          <p:cNvPr id="5" name="Title 1"/>
          <p:cNvSpPr txBox="1"/>
          <p:nvPr/>
        </p:nvSpPr>
        <p:spPr>
          <a:xfrm>
            <a:off x="361950" y="360363"/>
            <a:ext cx="11396663" cy="1066800"/>
          </a:xfrm>
          <a:prstGeom prst="rect">
            <a:avLst/>
          </a:prstGeom>
        </p:spPr>
        <p:txBody>
          <a:bodyPr>
            <a:normAutofit/>
          </a:bodyPr>
          <a:lst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entury Gothic" panose="020B0502020202020204" pitchFamily="34" charset="0"/>
              </a:defRPr>
            </a:lvl2pPr>
            <a:lvl3pPr algn="l" rtl="0" eaLnBrk="0" fontAlgn="base" hangingPunct="0">
              <a:spcBef>
                <a:spcPct val="0"/>
              </a:spcBef>
              <a:spcAft>
                <a:spcPct val="0"/>
              </a:spcAft>
              <a:defRPr sz="4000">
                <a:solidFill>
                  <a:schemeClr val="tx2"/>
                </a:solidFill>
                <a:latin typeface="Century Gothic" panose="020B0502020202020204" pitchFamily="34" charset="0"/>
              </a:defRPr>
            </a:lvl3pPr>
            <a:lvl4pPr algn="l" rtl="0" eaLnBrk="0" fontAlgn="base" hangingPunct="0">
              <a:spcBef>
                <a:spcPct val="0"/>
              </a:spcBef>
              <a:spcAft>
                <a:spcPct val="0"/>
              </a:spcAft>
              <a:defRPr sz="4000">
                <a:solidFill>
                  <a:schemeClr val="tx2"/>
                </a:solidFill>
                <a:latin typeface="Century Gothic" panose="020B0502020202020204" pitchFamily="34" charset="0"/>
              </a:defRPr>
            </a:lvl4pPr>
            <a:lvl5pPr algn="l" rtl="0" eaLnBrk="0" fontAlgn="base" hangingPunct="0">
              <a:spcBef>
                <a:spcPct val="0"/>
              </a:spcBef>
              <a:spcAft>
                <a:spcPct val="0"/>
              </a:spcAft>
              <a:defRPr sz="4000">
                <a:solidFill>
                  <a:schemeClr val="tx2"/>
                </a:solidFill>
                <a:latin typeface="Century Gothic" panose="020B0502020202020204" pitchFamily="34" charset="0"/>
              </a:defRPr>
            </a:lvl5pPr>
            <a:lvl6pPr marL="457200" algn="l" rtl="0" fontAlgn="base">
              <a:spcBef>
                <a:spcPct val="0"/>
              </a:spcBef>
              <a:spcAft>
                <a:spcPct val="0"/>
              </a:spcAft>
              <a:defRPr sz="4000">
                <a:solidFill>
                  <a:schemeClr val="tx2"/>
                </a:solidFill>
                <a:latin typeface="Century Gothic" panose="020B0502020202020204" pitchFamily="34" charset="0"/>
              </a:defRPr>
            </a:lvl6pPr>
            <a:lvl7pPr marL="914400" algn="l" rtl="0" fontAlgn="base">
              <a:spcBef>
                <a:spcPct val="0"/>
              </a:spcBef>
              <a:spcAft>
                <a:spcPct val="0"/>
              </a:spcAft>
              <a:defRPr sz="4000">
                <a:solidFill>
                  <a:schemeClr val="tx2"/>
                </a:solidFill>
                <a:latin typeface="Century Gothic" panose="020B0502020202020204" pitchFamily="34" charset="0"/>
              </a:defRPr>
            </a:lvl7pPr>
            <a:lvl8pPr marL="1371600" algn="l" rtl="0" fontAlgn="base">
              <a:spcBef>
                <a:spcPct val="0"/>
              </a:spcBef>
              <a:spcAft>
                <a:spcPct val="0"/>
              </a:spcAft>
              <a:defRPr sz="4000">
                <a:solidFill>
                  <a:schemeClr val="tx2"/>
                </a:solidFill>
                <a:latin typeface="Century Gothic" panose="020B0502020202020204" pitchFamily="34" charset="0"/>
              </a:defRPr>
            </a:lvl8pPr>
            <a:lvl9pPr marL="1828800" algn="l" rtl="0" fontAlgn="base">
              <a:spcBef>
                <a:spcPct val="0"/>
              </a:spcBef>
              <a:spcAft>
                <a:spcPct val="0"/>
              </a:spcAft>
              <a:defRPr sz="4000">
                <a:solidFill>
                  <a:schemeClr val="tx2"/>
                </a:solidFill>
                <a:latin typeface="Century Gothic" panose="020B0502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Methodology</a:t>
            </a:r>
          </a:p>
        </p:txBody>
      </p:sp>
      <p:sp>
        <p:nvSpPr>
          <p:cNvPr id="8" name="Content Placeholder 2"/>
          <p:cNvSpPr txBox="1"/>
          <p:nvPr/>
        </p:nvSpPr>
        <p:spPr>
          <a:xfrm>
            <a:off x="901700" y="1619250"/>
            <a:ext cx="10629900" cy="4751388"/>
          </a:xfrm>
          <a:prstGeom prst="rect">
            <a:avLst/>
          </a:prstGeom>
        </p:spPr>
        <p:txBody>
          <a:bodyPr>
            <a:normAutofit/>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74320" marR="0" lvl="0" indent="-457200" algn="l" defTabSz="914400" rtl="0" eaLnBrk="1" fontAlgn="auto" latinLnBrk="0" hangingPunct="1">
              <a:lnSpc>
                <a:spcPct val="100000"/>
              </a:lnSpc>
              <a:spcBef>
                <a:spcPts val="580"/>
              </a:spcBef>
              <a:spcAft>
                <a:spcPts val="0"/>
              </a:spcAft>
              <a:buClr>
                <a:schemeClr val="accent1"/>
              </a:buClr>
              <a:buSzPct val="85000"/>
              <a:buFont typeface="Wingdings" panose="05000000000000000000" pitchFamily="2" charset="2"/>
              <a:buChar char="q"/>
              <a:defRPr/>
            </a:pPr>
            <a:endParaRPr kumimoji="0" lang="en-IN" sz="1800" b="0" i="0" u="none" strike="noStrike" kern="1200" cap="none" spc="0" normalizeH="0" baseline="0" noProof="0">
              <a:ln>
                <a:noFill/>
              </a:ln>
              <a:solidFill>
                <a:srgbClr val="000000"/>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p:txBody>
      </p:sp>
      <p:pic>
        <p:nvPicPr>
          <p:cNvPr id="19463" name="Google Shape;22642;p14" descr="BIET-Bharat Institute of Engineering and Technology"/>
          <p:cNvPicPr preferRelativeResize="0">
            <a:picLocks noChangeAspect="1"/>
          </p:cNvPicPr>
          <p:nvPr/>
        </p:nvPicPr>
        <p:blipFill>
          <a:blip r:embed="rId2"/>
          <a:stretch>
            <a:fillRect/>
          </a:stretch>
        </p:blipFill>
        <p:spPr>
          <a:xfrm>
            <a:off x="11049000" y="204788"/>
            <a:ext cx="584200" cy="520700"/>
          </a:xfrm>
          <a:prstGeom prst="rect">
            <a:avLst/>
          </a:prstGeom>
          <a:noFill/>
          <a:ln w="9525">
            <a:noFill/>
          </a:ln>
        </p:spPr>
      </p:pic>
      <p:sp>
        <p:nvSpPr>
          <p:cNvPr id="7" name="TextBox 6"/>
          <p:cNvSpPr txBox="1"/>
          <p:nvPr/>
        </p:nvSpPr>
        <p:spPr>
          <a:xfrm>
            <a:off x="518318" y="1142325"/>
            <a:ext cx="11396663" cy="5078313"/>
          </a:xfrm>
          <a:prstGeom prst="rect">
            <a:avLst/>
          </a:prstGeom>
          <a:noFill/>
          <a:ln>
            <a:noFill/>
          </a:ln>
        </p:spPr>
        <p:txBody>
          <a:bodyPr wrap="square">
            <a:spAutoFit/>
          </a:bodyPr>
          <a:lstStyle/>
          <a:p>
            <a:pPr algn="just"/>
            <a:r>
              <a:rPr lang="en-US" b="1" dirty="0">
                <a:latin typeface="Times New Roman" panose="02020603050405020304" pitchFamily="18" charset="0"/>
                <a:cs typeface="Times New Roman" panose="02020603050405020304" pitchFamily="18" charset="0"/>
              </a:rPr>
              <a:t>1. Requirement Analysis</a:t>
            </a:r>
          </a:p>
          <a:p>
            <a:pPr algn="just"/>
            <a:r>
              <a:rPr lang="en-US" dirty="0">
                <a:latin typeface="Times New Roman" panose="02020603050405020304" pitchFamily="18" charset="0"/>
                <a:cs typeface="Times New Roman" panose="02020603050405020304" pitchFamily="18" charset="0"/>
              </a:rPr>
              <a:t>The first step was to analyze the requirements of an online auction system. The system should allow users to register, login, create auctions, place bids, and determine the highest bidder when the auction ends.</a:t>
            </a:r>
          </a:p>
          <a:p>
            <a:pPr algn="just"/>
            <a:r>
              <a:rPr lang="en-US" b="1" dirty="0">
                <a:latin typeface="Times New Roman" panose="02020603050405020304" pitchFamily="18" charset="0"/>
                <a:cs typeface="Times New Roman" panose="02020603050405020304" pitchFamily="18" charset="0"/>
              </a:rPr>
              <a:t>2. System Design</a:t>
            </a:r>
          </a:p>
          <a:p>
            <a:pPr algn="just"/>
            <a:r>
              <a:rPr lang="en-US" dirty="0">
                <a:latin typeface="Times New Roman" panose="02020603050405020304" pitchFamily="18" charset="0"/>
                <a:cs typeface="Times New Roman" panose="02020603050405020304" pitchFamily="18" charset="0"/>
              </a:rPr>
              <a:t>The system architecture was designed using a client–server model. The frontend handles user interaction while the backend processes auction logic and database operations.</a:t>
            </a:r>
          </a:p>
          <a:p>
            <a:pPr algn="just"/>
            <a:r>
              <a:rPr lang="en-US" b="1" dirty="0">
                <a:latin typeface="Times New Roman" panose="02020603050405020304" pitchFamily="18" charset="0"/>
                <a:cs typeface="Times New Roman" panose="02020603050405020304" pitchFamily="18" charset="0"/>
              </a:rPr>
              <a:t>3. Database Design</a:t>
            </a:r>
          </a:p>
          <a:p>
            <a:pPr algn="just"/>
            <a:r>
              <a:rPr lang="en-US" dirty="0">
                <a:latin typeface="Times New Roman" panose="02020603050405020304" pitchFamily="18" charset="0"/>
                <a:cs typeface="Times New Roman" panose="02020603050405020304" pitchFamily="18" charset="0"/>
              </a:rPr>
              <a:t>A database schema was designed to store system data efficiently. The main tables include </a:t>
            </a:r>
            <a:r>
              <a:rPr lang="en-US" b="1" dirty="0">
                <a:latin typeface="Times New Roman" panose="02020603050405020304" pitchFamily="18" charset="0"/>
                <a:cs typeface="Times New Roman" panose="02020603050405020304" pitchFamily="18" charset="0"/>
              </a:rPr>
              <a:t>User, Auction, and Bid</a:t>
            </a:r>
            <a:r>
              <a:rPr lang="en-US" dirty="0">
                <a:latin typeface="Times New Roman" panose="02020603050405020304" pitchFamily="18" charset="0"/>
                <a:cs typeface="Times New Roman" panose="02020603050405020304" pitchFamily="18" charset="0"/>
              </a:rPr>
              <a:t>, which store user details, auction information, and bid records.</a:t>
            </a:r>
          </a:p>
          <a:p>
            <a:pPr algn="just"/>
            <a:r>
              <a:rPr lang="en-US" b="1" dirty="0">
                <a:latin typeface="Times New Roman" panose="02020603050405020304" pitchFamily="18" charset="0"/>
                <a:cs typeface="Times New Roman" panose="02020603050405020304" pitchFamily="18" charset="0"/>
              </a:rPr>
              <a:t>4. Development</a:t>
            </a:r>
          </a:p>
          <a:p>
            <a:pPr algn="just"/>
            <a:r>
              <a:rPr lang="en-US" dirty="0">
                <a:latin typeface="Times New Roman" panose="02020603050405020304" pitchFamily="18" charset="0"/>
                <a:cs typeface="Times New Roman" panose="02020603050405020304" pitchFamily="18" charset="0"/>
              </a:rPr>
              <a:t>The system was implemented using </a:t>
            </a:r>
            <a:r>
              <a:rPr lang="en-US" b="1" dirty="0">
                <a:latin typeface="Times New Roman" panose="02020603050405020304" pitchFamily="18" charset="0"/>
                <a:cs typeface="Times New Roman" panose="02020603050405020304" pitchFamily="18" charset="0"/>
              </a:rPr>
              <a:t>Python Flask for backend development</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HTML, CSS, and Bootstrap for frontend design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SQLAlchemy</a:t>
            </a:r>
            <a:r>
              <a:rPr lang="en-US" dirty="0">
                <a:latin typeface="Times New Roman" panose="02020603050405020304" pitchFamily="18" charset="0"/>
                <a:cs typeface="Times New Roman" panose="02020603050405020304" pitchFamily="18" charset="0"/>
              </a:rPr>
              <a:t> ORM was used to interact with the SQLite database.</a:t>
            </a:r>
          </a:p>
          <a:p>
            <a:pPr algn="just"/>
            <a:r>
              <a:rPr lang="en-US" b="1" dirty="0">
                <a:latin typeface="Times New Roman" panose="02020603050405020304" pitchFamily="18" charset="0"/>
                <a:cs typeface="Times New Roman" panose="02020603050405020304" pitchFamily="18" charset="0"/>
              </a:rPr>
              <a:t>5. Testing</a:t>
            </a:r>
          </a:p>
          <a:p>
            <a:pPr algn="just"/>
            <a:r>
              <a:rPr lang="en-US" dirty="0">
                <a:latin typeface="Times New Roman" panose="02020603050405020304" pitchFamily="18" charset="0"/>
                <a:cs typeface="Times New Roman" panose="02020603050405020304" pitchFamily="18" charset="0"/>
              </a:rPr>
              <a:t>The application was tested to ensure correct functionality such as user authentication, auction creation, bid validation, and winner selection after auction completion.</a:t>
            </a:r>
          </a:p>
          <a:p>
            <a:pPr algn="just"/>
            <a:r>
              <a:rPr lang="en-US" b="1" dirty="0">
                <a:latin typeface="Times New Roman" panose="02020603050405020304" pitchFamily="18" charset="0"/>
                <a:cs typeface="Times New Roman" panose="02020603050405020304" pitchFamily="18" charset="0"/>
              </a:rPr>
              <a:t>6. Deployment</a:t>
            </a:r>
          </a:p>
          <a:p>
            <a:pPr algn="just"/>
            <a:r>
              <a:rPr lang="en-US" dirty="0">
                <a:latin typeface="Times New Roman" panose="02020603050405020304" pitchFamily="18" charset="0"/>
                <a:cs typeface="Times New Roman" panose="02020603050405020304" pitchFamily="18" charset="0"/>
              </a:rPr>
              <a:t>Finally, the application was deployed on the </a:t>
            </a:r>
            <a:r>
              <a:rPr lang="en-US" b="1" dirty="0">
                <a:latin typeface="Times New Roman" panose="02020603050405020304" pitchFamily="18" charset="0"/>
                <a:cs typeface="Times New Roman" panose="02020603050405020304" pitchFamily="18" charset="0"/>
              </a:rPr>
              <a:t>Render cloud platform</a:t>
            </a:r>
            <a:r>
              <a:rPr lang="en-US" dirty="0">
                <a:latin typeface="Times New Roman" panose="02020603050405020304" pitchFamily="18" charset="0"/>
                <a:cs typeface="Times New Roman" panose="02020603050405020304" pitchFamily="18" charset="0"/>
              </a:rPr>
              <a:t>, allowing users to access the auction system online through a web browser.</a:t>
            </a:r>
          </a:p>
        </p:txBody>
      </p:sp>
      <p:pic>
        <p:nvPicPr>
          <p:cNvPr id="9" name="Google Shape;22642;p14" descr="BIET-Bharat Institute of Engineering and Technology"/>
          <p:cNvPicPr preferRelativeResize="0">
            <a:picLocks noChangeAspect="1"/>
          </p:cNvPicPr>
          <p:nvPr/>
        </p:nvPicPr>
        <p:blipFill>
          <a:blip r:embed="rId2"/>
          <a:stretch>
            <a:fillRect/>
          </a:stretch>
        </p:blipFill>
        <p:spPr>
          <a:xfrm flipH="1">
            <a:off x="11031747" y="222041"/>
            <a:ext cx="550653" cy="520700"/>
          </a:xfrm>
          <a:prstGeom prst="rect">
            <a:avLst/>
          </a:prstGeom>
          <a:noFill/>
          <a:ln w="9525">
            <a:noFill/>
          </a:ln>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txBox="1">
            <a:spLocks noGrp="1"/>
          </p:cNvSpPr>
          <p:nvPr>
            <p:ph type="dt" sz="half" idx="10"/>
          </p:nvPr>
        </p:nvSpPr>
        <p:spPr>
          <a:noFill/>
        </p:spPr>
        <p:txBody>
          <a:bodyPr anchor="ctr" anchorCtr="0"/>
          <a:lstStyle/>
          <a:p>
            <a:pPr lvl="0" algn="ctr" eaLnBrk="1" hangingPunct="1"/>
            <a:r>
              <a:rPr lang="en-US" altLang="en-US">
                <a:sym typeface="+mn-ea"/>
              </a:rPr>
              <a:t>Date:07-03-2026</a:t>
            </a: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3" name="Footer Placeholder 2"/>
          <p:cNvSpPr txBox="1">
            <a:spLocks noGrp="1"/>
          </p:cNvSpPr>
          <p:nvPr>
            <p:ph type="ftr" sz="quarter" idx="11"/>
          </p:nvPr>
        </p:nvSpPr>
        <p:spPr>
          <a:noFill/>
        </p:spPr>
        <p:txBody>
          <a:bodyPr anchor="ctr" anchorCtr="0"/>
          <a:lstStyle/>
          <a:p>
            <a:pPr>
              <a:defRPr/>
            </a:pPr>
            <a:r>
              <a:rPr lang="en-IN" altLang="en-US"/>
              <a:t>FIRST REVIEW</a:t>
            </a:r>
            <a:r>
              <a:rPr lang="en-US"/>
              <a:t> – PROJECT STAGE 2</a:t>
            </a:r>
          </a:p>
        </p:txBody>
      </p:sp>
      <p:sp>
        <p:nvSpPr>
          <p:cNvPr id="4" name="Slide Number Placeholder 3"/>
          <p:cNvSpPr txBox="1">
            <a:spLocks noGrp="1"/>
          </p:cNvSpPr>
          <p:nvPr>
            <p:ph type="sldNum" sz="quarter" idx="12"/>
          </p:nvPr>
        </p:nvSpPr>
        <p:spPr/>
        <p:txBody>
          <a:bodyPr vert="horz" wrap="none" lIns="0" tIns="0" rIns="0" bIns="0" numCol="1" anchor="ctr" anchorCtr="1"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buNone/>
            </a:pPr>
            <a:fld id="{9A0DB2DC-4C9A-4742-B13C-FB6460FD3503}" type="slidenum">
              <a:rPr lang="en-US" altLang="en-US" sz="1400" dirty="0">
                <a:solidFill>
                  <a:schemeClr val="bg1"/>
                </a:solidFill>
                <a:latin typeface="Century Gothic" panose="020B0502020202020204" pitchFamily="34" charset="0"/>
              </a:rPr>
              <a:t>10</a:t>
            </a:fld>
            <a:endParaRPr lang="en-US" altLang="en-US" sz="1400">
              <a:solidFill>
                <a:schemeClr val="bg1"/>
              </a:solidFill>
              <a:latin typeface="Century Gothic" panose="020B0502020202020204" pitchFamily="34" charset="0"/>
            </a:endParaRPr>
          </a:p>
        </p:txBody>
      </p:sp>
      <p:sp>
        <p:nvSpPr>
          <p:cNvPr id="5" name="Title 1"/>
          <p:cNvSpPr txBox="1"/>
          <p:nvPr/>
        </p:nvSpPr>
        <p:spPr>
          <a:xfrm>
            <a:off x="252351" y="169323"/>
            <a:ext cx="11396663" cy="1066800"/>
          </a:xfrm>
          <a:prstGeom prst="rect">
            <a:avLst/>
          </a:prstGeom>
        </p:spPr>
        <p:txBody>
          <a:bodyPr>
            <a:normAutofit/>
          </a:bodyPr>
          <a:lst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entury Gothic" panose="020B0502020202020204" pitchFamily="34" charset="0"/>
              </a:defRPr>
            </a:lvl2pPr>
            <a:lvl3pPr algn="l" rtl="0" eaLnBrk="0" fontAlgn="base" hangingPunct="0">
              <a:spcBef>
                <a:spcPct val="0"/>
              </a:spcBef>
              <a:spcAft>
                <a:spcPct val="0"/>
              </a:spcAft>
              <a:defRPr sz="4000">
                <a:solidFill>
                  <a:schemeClr val="tx2"/>
                </a:solidFill>
                <a:latin typeface="Century Gothic" panose="020B0502020202020204" pitchFamily="34" charset="0"/>
              </a:defRPr>
            </a:lvl3pPr>
            <a:lvl4pPr algn="l" rtl="0" eaLnBrk="0" fontAlgn="base" hangingPunct="0">
              <a:spcBef>
                <a:spcPct val="0"/>
              </a:spcBef>
              <a:spcAft>
                <a:spcPct val="0"/>
              </a:spcAft>
              <a:defRPr sz="4000">
                <a:solidFill>
                  <a:schemeClr val="tx2"/>
                </a:solidFill>
                <a:latin typeface="Century Gothic" panose="020B0502020202020204" pitchFamily="34" charset="0"/>
              </a:defRPr>
            </a:lvl4pPr>
            <a:lvl5pPr algn="l" rtl="0" eaLnBrk="0" fontAlgn="base" hangingPunct="0">
              <a:spcBef>
                <a:spcPct val="0"/>
              </a:spcBef>
              <a:spcAft>
                <a:spcPct val="0"/>
              </a:spcAft>
              <a:defRPr sz="4000">
                <a:solidFill>
                  <a:schemeClr val="tx2"/>
                </a:solidFill>
                <a:latin typeface="Century Gothic" panose="020B0502020202020204" pitchFamily="34" charset="0"/>
              </a:defRPr>
            </a:lvl5pPr>
            <a:lvl6pPr marL="457200" algn="l" rtl="0" fontAlgn="base">
              <a:spcBef>
                <a:spcPct val="0"/>
              </a:spcBef>
              <a:spcAft>
                <a:spcPct val="0"/>
              </a:spcAft>
              <a:defRPr sz="4000">
                <a:solidFill>
                  <a:schemeClr val="tx2"/>
                </a:solidFill>
                <a:latin typeface="Century Gothic" panose="020B0502020202020204" pitchFamily="34" charset="0"/>
              </a:defRPr>
            </a:lvl6pPr>
            <a:lvl7pPr marL="914400" algn="l" rtl="0" fontAlgn="base">
              <a:spcBef>
                <a:spcPct val="0"/>
              </a:spcBef>
              <a:spcAft>
                <a:spcPct val="0"/>
              </a:spcAft>
              <a:defRPr sz="4000">
                <a:solidFill>
                  <a:schemeClr val="tx2"/>
                </a:solidFill>
                <a:latin typeface="Century Gothic" panose="020B0502020202020204" pitchFamily="34" charset="0"/>
              </a:defRPr>
            </a:lvl7pPr>
            <a:lvl8pPr marL="1371600" algn="l" rtl="0" fontAlgn="base">
              <a:spcBef>
                <a:spcPct val="0"/>
              </a:spcBef>
              <a:spcAft>
                <a:spcPct val="0"/>
              </a:spcAft>
              <a:defRPr sz="4000">
                <a:solidFill>
                  <a:schemeClr val="tx2"/>
                </a:solidFill>
                <a:latin typeface="Century Gothic" panose="020B0502020202020204" pitchFamily="34" charset="0"/>
              </a:defRPr>
            </a:lvl8pPr>
            <a:lvl9pPr marL="1828800" algn="l" rtl="0" fontAlgn="base">
              <a:spcBef>
                <a:spcPct val="0"/>
              </a:spcBef>
              <a:spcAft>
                <a:spcPct val="0"/>
              </a:spcAft>
              <a:defRPr sz="4000">
                <a:solidFill>
                  <a:schemeClr val="tx2"/>
                </a:solidFill>
                <a:latin typeface="Century Gothic" panose="020B0502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IN" sz="4000" b="0" i="0" u="none" strike="noStrike" kern="1200" cap="none" spc="0" normalizeH="0" baseline="0" noProof="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Implementation</a:t>
            </a:r>
          </a:p>
        </p:txBody>
      </p:sp>
      <p:pic>
        <p:nvPicPr>
          <p:cNvPr id="20488" name="Google Shape;22642;p14" descr="BIET-Bharat Institute of Engineering and Technology"/>
          <p:cNvPicPr preferRelativeResize="0">
            <a:picLocks noChangeAspect="1"/>
          </p:cNvPicPr>
          <p:nvPr/>
        </p:nvPicPr>
        <p:blipFill>
          <a:blip r:embed="rId2"/>
          <a:stretch>
            <a:fillRect/>
          </a:stretch>
        </p:blipFill>
        <p:spPr>
          <a:xfrm>
            <a:off x="11049000" y="204788"/>
            <a:ext cx="584200" cy="520700"/>
          </a:xfrm>
          <a:prstGeom prst="rect">
            <a:avLst/>
          </a:prstGeom>
          <a:noFill/>
          <a:ln w="9525">
            <a:noFill/>
          </a:ln>
        </p:spPr>
      </p:pic>
      <p:sp>
        <p:nvSpPr>
          <p:cNvPr id="6" name="TextBox 6"/>
          <p:cNvSpPr txBox="1"/>
          <p:nvPr/>
        </p:nvSpPr>
        <p:spPr>
          <a:xfrm>
            <a:off x="334297" y="674399"/>
            <a:ext cx="11006803" cy="5509200"/>
          </a:xfrm>
          <a:prstGeom prst="rect">
            <a:avLst/>
          </a:prstGeom>
          <a:noFill/>
          <a:ln w="9525" cap="flat" cmpd="sng">
            <a:noFill/>
            <a:prstDash val="solid"/>
            <a:miter/>
            <a:headEnd type="none" w="med" len="med"/>
            <a:tailEnd type="none" w="med" len="med"/>
          </a:ln>
        </p:spPr>
        <p:txBody>
          <a:bodyPr wrap="square" anchor="ctr" anchorCtr="1">
            <a:spAutoFit/>
          </a:bodyPr>
          <a:lstStyle/>
          <a:p>
            <a:r>
              <a:rPr lang="en-US" sz="1600" b="1" dirty="0">
                <a:latin typeface="Times New Roman" panose="02020603050405020304" pitchFamily="18" charset="0"/>
                <a:cs typeface="Times New Roman" panose="02020603050405020304" pitchFamily="18" charset="0"/>
              </a:rPr>
              <a:t>1. Components and Specifications</a:t>
            </a:r>
          </a:p>
          <a:p>
            <a:r>
              <a:rPr lang="en-US" sz="1600" b="1" dirty="0">
                <a:latin typeface="Times New Roman" panose="02020603050405020304" pitchFamily="18" charset="0"/>
                <a:cs typeface="Times New Roman" panose="02020603050405020304" pitchFamily="18" charset="0"/>
              </a:rPr>
              <a:t>Hardware:</a:t>
            </a:r>
            <a:r>
              <a:rPr lang="en-US" sz="1600" dirty="0">
                <a:latin typeface="Times New Roman" panose="02020603050405020304" pitchFamily="18" charset="0"/>
                <a:cs typeface="Times New Roman" panose="02020603050405020304" pitchFamily="18" charset="0"/>
              </a:rPr>
              <a:t> Minimum i5/i7 processor, 8–16 GB RAM, Stable Internet Connection.</a:t>
            </a:r>
          </a:p>
          <a:p>
            <a:r>
              <a:rPr lang="en-US" sz="1600" b="1" dirty="0">
                <a:latin typeface="Times New Roman" panose="02020603050405020304" pitchFamily="18" charset="0"/>
                <a:cs typeface="Times New Roman" panose="02020603050405020304" pitchFamily="18" charset="0"/>
              </a:rPr>
              <a:t>Software: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Python Flask framework for backend development,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HTML, CSS, and Bootstrap for frontend design,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SQLite database for data storage,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Visual Studio Code for coding and development,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GitHub for version control and project management.</a:t>
            </a:r>
          </a:p>
          <a:p>
            <a:r>
              <a:rPr lang="en-US" sz="1600" b="1" dirty="0">
                <a:latin typeface="Times New Roman" panose="02020603050405020304" pitchFamily="18" charset="0"/>
                <a:cs typeface="Times New Roman" panose="02020603050405020304" pitchFamily="18" charset="0"/>
              </a:rPr>
              <a:t>2. Coding</a:t>
            </a:r>
          </a:p>
          <a:p>
            <a:r>
              <a:rPr lang="en-US" sz="1600" dirty="0">
                <a:latin typeface="Times New Roman" panose="02020603050405020304" pitchFamily="18" charset="0"/>
                <a:cs typeface="Times New Roman" panose="02020603050405020304" pitchFamily="18" charset="0"/>
              </a:rPr>
              <a:t>Frontend developed using </a:t>
            </a:r>
            <a:r>
              <a:rPr lang="en-US" sz="1600" b="1" dirty="0">
                <a:latin typeface="Times New Roman" panose="02020603050405020304" pitchFamily="18" charset="0"/>
                <a:cs typeface="Times New Roman" panose="02020603050405020304" pitchFamily="18" charset="0"/>
              </a:rPr>
              <a:t>HTML, CSS, and Bootstrap</a:t>
            </a:r>
            <a:r>
              <a:rPr lang="en-US" sz="1600" dirty="0">
                <a:latin typeface="Times New Roman" panose="02020603050405020304" pitchFamily="18" charset="0"/>
                <a:cs typeface="Times New Roman" panose="02020603050405020304" pitchFamily="18" charset="0"/>
              </a:rPr>
              <a:t> to create responsive web pages for user interaction.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Backend implemented using </a:t>
            </a:r>
            <a:r>
              <a:rPr lang="en-US" sz="1600" b="1" dirty="0">
                <a:latin typeface="Times New Roman" panose="02020603050405020304" pitchFamily="18" charset="0"/>
                <a:cs typeface="Times New Roman" panose="02020603050405020304" pitchFamily="18" charset="0"/>
              </a:rPr>
              <a:t>Python Flask</a:t>
            </a:r>
            <a:r>
              <a:rPr lang="en-US" sz="1600" dirty="0">
                <a:latin typeface="Times New Roman" panose="02020603050405020304" pitchFamily="18" charset="0"/>
                <a:cs typeface="Times New Roman" panose="02020603050405020304" pitchFamily="18" charset="0"/>
              </a:rPr>
              <a:t> to manage application logic such as user authentication, auction creation, and bidding operations.</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Flask-Login</a:t>
            </a:r>
            <a:r>
              <a:rPr lang="en-US" sz="1600" dirty="0">
                <a:latin typeface="Times New Roman" panose="02020603050405020304" pitchFamily="18" charset="0"/>
                <a:cs typeface="Times New Roman" panose="02020603050405020304" pitchFamily="18" charset="0"/>
              </a:rPr>
              <a:t> is used for session management and </a:t>
            </a:r>
            <a:r>
              <a:rPr lang="en-US" sz="1600" b="1" dirty="0" err="1">
                <a:latin typeface="Times New Roman" panose="02020603050405020304" pitchFamily="18" charset="0"/>
                <a:cs typeface="Times New Roman" panose="02020603050405020304" pitchFamily="18" charset="0"/>
              </a:rPr>
              <a:t>SQLAlchemy</a:t>
            </a:r>
            <a:r>
              <a:rPr lang="en-US" sz="1600" b="1" dirty="0">
                <a:latin typeface="Times New Roman" panose="02020603050405020304" pitchFamily="18" charset="0"/>
                <a:cs typeface="Times New Roman" panose="02020603050405020304" pitchFamily="18" charset="0"/>
              </a:rPr>
              <a:t> ORM</a:t>
            </a:r>
            <a:r>
              <a:rPr lang="en-US" sz="1600" dirty="0">
                <a:latin typeface="Times New Roman" panose="02020603050405020304" pitchFamily="18" charset="0"/>
                <a:cs typeface="Times New Roman" panose="02020603050405020304" pitchFamily="18" charset="0"/>
              </a:rPr>
              <a:t> is used for database interaction.</a:t>
            </a:r>
          </a:p>
          <a:p>
            <a:r>
              <a:rPr lang="en-US" sz="1600" b="1" dirty="0">
                <a:latin typeface="Times New Roman" panose="02020603050405020304" pitchFamily="18" charset="0"/>
                <a:cs typeface="Times New Roman" panose="02020603050405020304" pitchFamily="18" charset="0"/>
              </a:rPr>
              <a:t>3. Application</a:t>
            </a:r>
          </a:p>
          <a:p>
            <a:r>
              <a:rPr lang="en-US" sz="1600" b="1" dirty="0">
                <a:latin typeface="Times New Roman" panose="02020603050405020304" pitchFamily="18" charset="0"/>
                <a:cs typeface="Times New Roman" panose="02020603050405020304" pitchFamily="18" charset="0"/>
              </a:rPr>
              <a:t>Backend:</a:t>
            </a:r>
            <a:r>
              <a:rPr lang="en-US" sz="1600" dirty="0">
                <a:latin typeface="Times New Roman" panose="02020603050405020304" pitchFamily="18" charset="0"/>
                <a:cs typeface="Times New Roman" panose="02020603050405020304" pitchFamily="18" charset="0"/>
              </a:rPr>
              <a:t> Flask routes process user requests such as registration, login, auction creation, and bid submission. Data is stored and retrieved from the SQLite database.</a:t>
            </a:r>
          </a:p>
          <a:p>
            <a:r>
              <a:rPr lang="en-US" sz="1600" b="1" dirty="0">
                <a:latin typeface="Times New Roman" panose="02020603050405020304" pitchFamily="18" charset="0"/>
                <a:cs typeface="Times New Roman" panose="02020603050405020304" pitchFamily="18" charset="0"/>
              </a:rPr>
              <a:t>Frontend:</a:t>
            </a:r>
            <a:r>
              <a:rPr lang="en-US" sz="1600" dirty="0">
                <a:latin typeface="Times New Roman" panose="02020603050405020304" pitchFamily="18" charset="0"/>
                <a:cs typeface="Times New Roman" panose="02020603050405020304" pitchFamily="18" charset="0"/>
              </a:rPr>
              <a:t> Web interface allows users to register, login, create auctions, upload product images, and place bids on available auctions.</a:t>
            </a:r>
          </a:p>
          <a:p>
            <a:r>
              <a:rPr lang="en-US" sz="1600" b="1" dirty="0">
                <a:latin typeface="Times New Roman" panose="02020603050405020304" pitchFamily="18" charset="0"/>
                <a:cs typeface="Times New Roman" panose="02020603050405020304" pitchFamily="18" charset="0"/>
              </a:rPr>
              <a:t>4. Integration</a:t>
            </a:r>
          </a:p>
          <a:p>
            <a:r>
              <a:rPr lang="en-US" sz="1600" dirty="0">
                <a:latin typeface="Times New Roman" panose="02020603050405020304" pitchFamily="18" charset="0"/>
                <a:cs typeface="Times New Roman" panose="02020603050405020304" pitchFamily="18" charset="0"/>
              </a:rPr>
              <a:t>The frontend interface communicates with the backend Flask server through HTTP requests.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Database operations are handled using </a:t>
            </a:r>
            <a:r>
              <a:rPr lang="en-US" sz="1600" dirty="0" err="1">
                <a:latin typeface="Times New Roman" panose="02020603050405020304" pitchFamily="18" charset="0"/>
                <a:cs typeface="Times New Roman" panose="02020603050405020304" pitchFamily="18" charset="0"/>
              </a:rPr>
              <a:t>SQLAlchemy</a:t>
            </a:r>
            <a:r>
              <a:rPr lang="en-US" sz="1600" dirty="0">
                <a:latin typeface="Times New Roman" panose="02020603050405020304" pitchFamily="18" charset="0"/>
                <a:cs typeface="Times New Roman" panose="02020603050405020304" pitchFamily="18" charset="0"/>
              </a:rPr>
              <a:t> to ensure efficient storage and retrieval of auction and bid data.</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application is deployed on the </a:t>
            </a:r>
            <a:r>
              <a:rPr lang="en-US" sz="1600" b="1" dirty="0">
                <a:latin typeface="Times New Roman" panose="02020603050405020304" pitchFamily="18" charset="0"/>
                <a:cs typeface="Times New Roman" panose="02020603050405020304" pitchFamily="18" charset="0"/>
              </a:rPr>
              <a:t>Render cloud platform</a:t>
            </a:r>
            <a:r>
              <a:rPr lang="en-US" sz="1600" dirty="0">
                <a:latin typeface="Times New Roman" panose="02020603050405020304" pitchFamily="18" charset="0"/>
                <a:cs typeface="Times New Roman" panose="02020603050405020304" pitchFamily="18" charset="0"/>
              </a:rPr>
              <a:t>, allowing users to access the system online through a web browser.</a:t>
            </a: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txBox="1">
            <a:spLocks noGrp="1"/>
          </p:cNvSpPr>
          <p:nvPr>
            <p:ph type="dt" sz="half" idx="10"/>
          </p:nvPr>
        </p:nvSpPr>
        <p:spPr>
          <a:noFill/>
        </p:spPr>
        <p:txBody>
          <a:bodyPr anchor="ctr" anchorCtr="0"/>
          <a:lstStyle/>
          <a:p>
            <a:pPr lvl="0" algn="ctr" eaLnBrk="1" hangingPunct="1"/>
            <a:r>
              <a:rPr lang="en-US" altLang="en-US">
                <a:sym typeface="+mn-ea"/>
              </a:rPr>
              <a:t>Date:07-03-2026</a:t>
            </a: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3" name="Footer Placeholder 2"/>
          <p:cNvSpPr txBox="1">
            <a:spLocks noGrp="1"/>
          </p:cNvSpPr>
          <p:nvPr>
            <p:ph type="ftr" sz="quarter" idx="11"/>
          </p:nvPr>
        </p:nvSpPr>
        <p:spPr>
          <a:noFill/>
        </p:spPr>
        <p:txBody>
          <a:bodyPr anchor="ctr" anchorCtr="0"/>
          <a:lstStyle/>
          <a:p>
            <a:pPr>
              <a:defRPr/>
            </a:pPr>
            <a:r>
              <a:rPr lang="en-IN" altLang="en-US"/>
              <a:t>FIRST REVIEW</a:t>
            </a:r>
            <a:r>
              <a:rPr lang="en-US"/>
              <a:t> – PROJECT STAGE 2</a:t>
            </a:r>
          </a:p>
        </p:txBody>
      </p:sp>
      <p:sp>
        <p:nvSpPr>
          <p:cNvPr id="4" name="Slide Number Placeholder 3"/>
          <p:cNvSpPr txBox="1">
            <a:spLocks noGrp="1"/>
          </p:cNvSpPr>
          <p:nvPr>
            <p:ph type="sldNum" sz="quarter" idx="12"/>
          </p:nvPr>
        </p:nvSpPr>
        <p:spPr/>
        <p:txBody>
          <a:bodyPr vert="horz" wrap="none" lIns="0" tIns="0" rIns="0" bIns="0" numCol="1" anchor="ctr" anchorCtr="1"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buNone/>
            </a:pPr>
            <a:fld id="{9A0DB2DC-4C9A-4742-B13C-FB6460FD3503}" type="slidenum">
              <a:rPr lang="en-US" altLang="en-US" sz="1400" dirty="0">
                <a:solidFill>
                  <a:schemeClr val="bg1"/>
                </a:solidFill>
                <a:latin typeface="Century Gothic" panose="020B0502020202020204" pitchFamily="34" charset="0"/>
              </a:rPr>
              <a:t>11</a:t>
            </a:fld>
            <a:endParaRPr lang="en-US" altLang="en-US" sz="1400">
              <a:solidFill>
                <a:schemeClr val="bg1"/>
              </a:solidFill>
              <a:latin typeface="Century Gothic" panose="020B0502020202020204" pitchFamily="34" charset="0"/>
            </a:endParaRPr>
          </a:p>
        </p:txBody>
      </p:sp>
      <p:sp>
        <p:nvSpPr>
          <p:cNvPr id="5" name="Title 1"/>
          <p:cNvSpPr txBox="1"/>
          <p:nvPr/>
        </p:nvSpPr>
        <p:spPr>
          <a:xfrm>
            <a:off x="361950" y="360363"/>
            <a:ext cx="11396663" cy="1066800"/>
          </a:xfrm>
          <a:prstGeom prst="rect">
            <a:avLst/>
          </a:prstGeom>
        </p:spPr>
        <p:txBody>
          <a:bodyPr>
            <a:normAutofit/>
          </a:bodyPr>
          <a:lst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entury Gothic" panose="020B0502020202020204" pitchFamily="34" charset="0"/>
              </a:defRPr>
            </a:lvl2pPr>
            <a:lvl3pPr algn="l" rtl="0" eaLnBrk="0" fontAlgn="base" hangingPunct="0">
              <a:spcBef>
                <a:spcPct val="0"/>
              </a:spcBef>
              <a:spcAft>
                <a:spcPct val="0"/>
              </a:spcAft>
              <a:defRPr sz="4000">
                <a:solidFill>
                  <a:schemeClr val="tx2"/>
                </a:solidFill>
                <a:latin typeface="Century Gothic" panose="020B0502020202020204" pitchFamily="34" charset="0"/>
              </a:defRPr>
            </a:lvl3pPr>
            <a:lvl4pPr algn="l" rtl="0" eaLnBrk="0" fontAlgn="base" hangingPunct="0">
              <a:spcBef>
                <a:spcPct val="0"/>
              </a:spcBef>
              <a:spcAft>
                <a:spcPct val="0"/>
              </a:spcAft>
              <a:defRPr sz="4000">
                <a:solidFill>
                  <a:schemeClr val="tx2"/>
                </a:solidFill>
                <a:latin typeface="Century Gothic" panose="020B0502020202020204" pitchFamily="34" charset="0"/>
              </a:defRPr>
            </a:lvl4pPr>
            <a:lvl5pPr algn="l" rtl="0" eaLnBrk="0" fontAlgn="base" hangingPunct="0">
              <a:spcBef>
                <a:spcPct val="0"/>
              </a:spcBef>
              <a:spcAft>
                <a:spcPct val="0"/>
              </a:spcAft>
              <a:defRPr sz="4000">
                <a:solidFill>
                  <a:schemeClr val="tx2"/>
                </a:solidFill>
                <a:latin typeface="Century Gothic" panose="020B0502020202020204" pitchFamily="34" charset="0"/>
              </a:defRPr>
            </a:lvl5pPr>
            <a:lvl6pPr marL="457200" algn="l" rtl="0" fontAlgn="base">
              <a:spcBef>
                <a:spcPct val="0"/>
              </a:spcBef>
              <a:spcAft>
                <a:spcPct val="0"/>
              </a:spcAft>
              <a:defRPr sz="4000">
                <a:solidFill>
                  <a:schemeClr val="tx2"/>
                </a:solidFill>
                <a:latin typeface="Century Gothic" panose="020B0502020202020204" pitchFamily="34" charset="0"/>
              </a:defRPr>
            </a:lvl6pPr>
            <a:lvl7pPr marL="914400" algn="l" rtl="0" fontAlgn="base">
              <a:spcBef>
                <a:spcPct val="0"/>
              </a:spcBef>
              <a:spcAft>
                <a:spcPct val="0"/>
              </a:spcAft>
              <a:defRPr sz="4000">
                <a:solidFill>
                  <a:schemeClr val="tx2"/>
                </a:solidFill>
                <a:latin typeface="Century Gothic" panose="020B0502020202020204" pitchFamily="34" charset="0"/>
              </a:defRPr>
            </a:lvl7pPr>
            <a:lvl8pPr marL="1371600" algn="l" rtl="0" fontAlgn="base">
              <a:spcBef>
                <a:spcPct val="0"/>
              </a:spcBef>
              <a:spcAft>
                <a:spcPct val="0"/>
              </a:spcAft>
              <a:defRPr sz="4000">
                <a:solidFill>
                  <a:schemeClr val="tx2"/>
                </a:solidFill>
                <a:latin typeface="Century Gothic" panose="020B0502020202020204" pitchFamily="34" charset="0"/>
              </a:defRPr>
            </a:lvl8pPr>
            <a:lvl9pPr marL="1828800" algn="l" rtl="0" fontAlgn="base">
              <a:spcBef>
                <a:spcPct val="0"/>
              </a:spcBef>
              <a:spcAft>
                <a:spcPct val="0"/>
              </a:spcAft>
              <a:defRPr sz="4000">
                <a:solidFill>
                  <a:schemeClr val="tx2"/>
                </a:solidFill>
                <a:latin typeface="Century Gothic" panose="020B0502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IN" sz="4000" b="0" i="0" u="none" strike="noStrike" kern="1200" cap="none" spc="0" normalizeH="0" baseline="0" noProof="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Results/Working </a:t>
            </a:r>
          </a:p>
        </p:txBody>
      </p:sp>
      <p:sp>
        <p:nvSpPr>
          <p:cNvPr id="21510" name="TextBox 6"/>
          <p:cNvSpPr txBox="1"/>
          <p:nvPr/>
        </p:nvSpPr>
        <p:spPr>
          <a:xfrm>
            <a:off x="1033463" y="2141021"/>
            <a:ext cx="184731" cy="369332"/>
          </a:xfrm>
          <a:prstGeom prst="rect">
            <a:avLst/>
          </a:prstGeom>
          <a:noFill/>
          <a:ln w="9525" cap="flat" cmpd="sng">
            <a:noFill/>
            <a:prstDash val="solid"/>
            <a:miter/>
            <a:headEnd type="none" w="med" len="med"/>
            <a:tailEnd type="none" w="med" len="med"/>
          </a:ln>
        </p:spPr>
        <p:txBody>
          <a:bodyPr wrap="none" anchor="ctr" anchorCtr="1">
            <a:spAutoFit/>
          </a:bodyPr>
          <a:lstStyle/>
          <a:p>
            <a:endParaRPr lang="en-US" altLang="en-US">
              <a:latin typeface="Times New Roman" panose="02020603050405020304" pitchFamily="18" charset="0"/>
              <a:ea typeface="Times New Roman" panose="02020603050405020304" pitchFamily="18" charset="0"/>
            </a:endParaRPr>
          </a:p>
        </p:txBody>
      </p:sp>
      <p:pic>
        <p:nvPicPr>
          <p:cNvPr id="21511" name="Google Shape;22642;p14" descr="BIET-Bharat Institute of Engineering and Technology"/>
          <p:cNvPicPr preferRelativeResize="0">
            <a:picLocks noChangeAspect="1"/>
          </p:cNvPicPr>
          <p:nvPr/>
        </p:nvPicPr>
        <p:blipFill>
          <a:blip r:embed="rId2"/>
          <a:stretch>
            <a:fillRect/>
          </a:stretch>
        </p:blipFill>
        <p:spPr>
          <a:xfrm>
            <a:off x="11049000" y="204788"/>
            <a:ext cx="584200" cy="520700"/>
          </a:xfrm>
          <a:prstGeom prst="rect">
            <a:avLst/>
          </a:prstGeom>
          <a:noFill/>
          <a:ln w="9525">
            <a:noFill/>
          </a:ln>
        </p:spPr>
      </p:pic>
      <p:pic>
        <p:nvPicPr>
          <p:cNvPr id="10" name="Google Shape;22642;p14" descr="BIET-Bharat Institute of Engineering and Technology"/>
          <p:cNvPicPr preferRelativeResize="0">
            <a:picLocks noChangeAspect="1"/>
          </p:cNvPicPr>
          <p:nvPr/>
        </p:nvPicPr>
        <p:blipFill>
          <a:blip r:embed="rId2"/>
          <a:stretch>
            <a:fillRect/>
          </a:stretch>
        </p:blipFill>
        <p:spPr>
          <a:xfrm flipH="1">
            <a:off x="11031747" y="222041"/>
            <a:ext cx="550653" cy="520700"/>
          </a:xfrm>
          <a:prstGeom prst="rect">
            <a:avLst/>
          </a:prstGeom>
          <a:noFill/>
          <a:ln w="9525">
            <a:noFill/>
          </a:ln>
        </p:spPr>
      </p:pic>
      <p:pic>
        <p:nvPicPr>
          <p:cNvPr id="12" name="Picture 11">
            <a:extLst>
              <a:ext uri="{FF2B5EF4-FFF2-40B4-BE49-F238E27FC236}">
                <a16:creationId xmlns:a16="http://schemas.microsoft.com/office/drawing/2014/main" id="{916AE0B8-6BB8-F2BB-3260-E5229C0BF2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3248" y="1182329"/>
            <a:ext cx="8554065" cy="4811661"/>
          </a:xfrm>
          <a:prstGeom prst="rect">
            <a:avLst/>
          </a:prstGeom>
        </p:spPr>
      </p:pic>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txBox="1">
            <a:spLocks noGrp="1"/>
          </p:cNvSpPr>
          <p:nvPr>
            <p:ph type="dt" sz="half" idx="10"/>
          </p:nvPr>
        </p:nvSpPr>
        <p:spPr>
          <a:noFill/>
        </p:spPr>
        <p:txBody>
          <a:bodyPr anchor="ctr" anchorCtr="0"/>
          <a:lstStyle/>
          <a:p>
            <a:pPr lvl="0" algn="ctr" eaLnBrk="1" hangingPunct="1"/>
            <a:r>
              <a:rPr lang="en-US" altLang="en-US">
                <a:sym typeface="+mn-ea"/>
              </a:rPr>
              <a:t>Date:07-03-2026</a:t>
            </a: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3" name="Footer Placeholder 2"/>
          <p:cNvSpPr txBox="1">
            <a:spLocks noGrp="1"/>
          </p:cNvSpPr>
          <p:nvPr>
            <p:ph type="ftr" sz="quarter" idx="11"/>
          </p:nvPr>
        </p:nvSpPr>
        <p:spPr>
          <a:noFill/>
        </p:spPr>
        <p:txBody>
          <a:bodyPr anchor="ctr" anchorCtr="0"/>
          <a:lstStyle/>
          <a:p>
            <a:pPr>
              <a:defRPr/>
            </a:pPr>
            <a:r>
              <a:rPr lang="en-IN" altLang="en-US"/>
              <a:t>FIRST REVIEW</a:t>
            </a:r>
            <a:r>
              <a:rPr lang="en-US"/>
              <a:t> – PROJECT STAGE 2</a:t>
            </a:r>
          </a:p>
        </p:txBody>
      </p:sp>
      <p:sp>
        <p:nvSpPr>
          <p:cNvPr id="4" name="Slide Number Placeholder 3"/>
          <p:cNvSpPr txBox="1">
            <a:spLocks noGrp="1"/>
          </p:cNvSpPr>
          <p:nvPr>
            <p:ph type="sldNum" sz="quarter" idx="12"/>
          </p:nvPr>
        </p:nvSpPr>
        <p:spPr/>
        <p:txBody>
          <a:bodyPr vert="horz" wrap="none" lIns="0" tIns="0" rIns="0" bIns="0" numCol="1" anchor="ctr" anchorCtr="1"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buNone/>
            </a:pPr>
            <a:fld id="{9A0DB2DC-4C9A-4742-B13C-FB6460FD3503}" type="slidenum">
              <a:rPr lang="en-US" altLang="en-US" sz="1400" dirty="0">
                <a:solidFill>
                  <a:schemeClr val="bg1"/>
                </a:solidFill>
                <a:latin typeface="Century Gothic" panose="020B0502020202020204" pitchFamily="34" charset="0"/>
              </a:rPr>
              <a:t>12</a:t>
            </a:fld>
            <a:endParaRPr lang="en-US" altLang="en-US" sz="1400">
              <a:solidFill>
                <a:schemeClr val="bg1"/>
              </a:solidFill>
              <a:latin typeface="Century Gothic" panose="020B0502020202020204" pitchFamily="34" charset="0"/>
            </a:endParaRPr>
          </a:p>
        </p:txBody>
      </p:sp>
      <p:sp>
        <p:nvSpPr>
          <p:cNvPr id="5" name="Title 1"/>
          <p:cNvSpPr txBox="1"/>
          <p:nvPr/>
        </p:nvSpPr>
        <p:spPr>
          <a:xfrm>
            <a:off x="361950" y="360363"/>
            <a:ext cx="11396663" cy="1066800"/>
          </a:xfrm>
          <a:prstGeom prst="rect">
            <a:avLst/>
          </a:prstGeom>
        </p:spPr>
        <p:txBody>
          <a:bodyPr>
            <a:normAutofit/>
          </a:bodyPr>
          <a:lst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entury Gothic" panose="020B0502020202020204" pitchFamily="34" charset="0"/>
              </a:defRPr>
            </a:lvl2pPr>
            <a:lvl3pPr algn="l" rtl="0" eaLnBrk="0" fontAlgn="base" hangingPunct="0">
              <a:spcBef>
                <a:spcPct val="0"/>
              </a:spcBef>
              <a:spcAft>
                <a:spcPct val="0"/>
              </a:spcAft>
              <a:defRPr sz="4000">
                <a:solidFill>
                  <a:schemeClr val="tx2"/>
                </a:solidFill>
                <a:latin typeface="Century Gothic" panose="020B0502020202020204" pitchFamily="34" charset="0"/>
              </a:defRPr>
            </a:lvl3pPr>
            <a:lvl4pPr algn="l" rtl="0" eaLnBrk="0" fontAlgn="base" hangingPunct="0">
              <a:spcBef>
                <a:spcPct val="0"/>
              </a:spcBef>
              <a:spcAft>
                <a:spcPct val="0"/>
              </a:spcAft>
              <a:defRPr sz="4000">
                <a:solidFill>
                  <a:schemeClr val="tx2"/>
                </a:solidFill>
                <a:latin typeface="Century Gothic" panose="020B0502020202020204" pitchFamily="34" charset="0"/>
              </a:defRPr>
            </a:lvl4pPr>
            <a:lvl5pPr algn="l" rtl="0" eaLnBrk="0" fontAlgn="base" hangingPunct="0">
              <a:spcBef>
                <a:spcPct val="0"/>
              </a:spcBef>
              <a:spcAft>
                <a:spcPct val="0"/>
              </a:spcAft>
              <a:defRPr sz="4000">
                <a:solidFill>
                  <a:schemeClr val="tx2"/>
                </a:solidFill>
                <a:latin typeface="Century Gothic" panose="020B0502020202020204" pitchFamily="34" charset="0"/>
              </a:defRPr>
            </a:lvl5pPr>
            <a:lvl6pPr marL="457200" algn="l" rtl="0" fontAlgn="base">
              <a:spcBef>
                <a:spcPct val="0"/>
              </a:spcBef>
              <a:spcAft>
                <a:spcPct val="0"/>
              </a:spcAft>
              <a:defRPr sz="4000">
                <a:solidFill>
                  <a:schemeClr val="tx2"/>
                </a:solidFill>
                <a:latin typeface="Century Gothic" panose="020B0502020202020204" pitchFamily="34" charset="0"/>
              </a:defRPr>
            </a:lvl6pPr>
            <a:lvl7pPr marL="914400" algn="l" rtl="0" fontAlgn="base">
              <a:spcBef>
                <a:spcPct val="0"/>
              </a:spcBef>
              <a:spcAft>
                <a:spcPct val="0"/>
              </a:spcAft>
              <a:defRPr sz="4000">
                <a:solidFill>
                  <a:schemeClr val="tx2"/>
                </a:solidFill>
                <a:latin typeface="Century Gothic" panose="020B0502020202020204" pitchFamily="34" charset="0"/>
              </a:defRPr>
            </a:lvl7pPr>
            <a:lvl8pPr marL="1371600" algn="l" rtl="0" fontAlgn="base">
              <a:spcBef>
                <a:spcPct val="0"/>
              </a:spcBef>
              <a:spcAft>
                <a:spcPct val="0"/>
              </a:spcAft>
              <a:defRPr sz="4000">
                <a:solidFill>
                  <a:schemeClr val="tx2"/>
                </a:solidFill>
                <a:latin typeface="Century Gothic" panose="020B0502020202020204" pitchFamily="34" charset="0"/>
              </a:defRPr>
            </a:lvl8pPr>
            <a:lvl9pPr marL="1828800" algn="l" rtl="0" fontAlgn="base">
              <a:spcBef>
                <a:spcPct val="0"/>
              </a:spcBef>
              <a:spcAft>
                <a:spcPct val="0"/>
              </a:spcAft>
              <a:defRPr sz="4000">
                <a:solidFill>
                  <a:schemeClr val="tx2"/>
                </a:solidFill>
                <a:latin typeface="Century Gothic" panose="020B0502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Conclusion &amp; Future Scope </a:t>
            </a:r>
          </a:p>
        </p:txBody>
      </p:sp>
      <p:pic>
        <p:nvPicPr>
          <p:cNvPr id="22534" name="Google Shape;22642;p14" descr="BIET-Bharat Institute of Engineering and Technology"/>
          <p:cNvPicPr preferRelativeResize="0">
            <a:picLocks noChangeAspect="1"/>
          </p:cNvPicPr>
          <p:nvPr/>
        </p:nvPicPr>
        <p:blipFill>
          <a:blip r:embed="rId2"/>
          <a:stretch>
            <a:fillRect/>
          </a:stretch>
        </p:blipFill>
        <p:spPr>
          <a:xfrm>
            <a:off x="11049000" y="204788"/>
            <a:ext cx="584200" cy="520700"/>
          </a:xfrm>
          <a:prstGeom prst="rect">
            <a:avLst/>
          </a:prstGeom>
          <a:noFill/>
          <a:ln w="9525">
            <a:noFill/>
          </a:ln>
        </p:spPr>
      </p:pic>
      <p:sp>
        <p:nvSpPr>
          <p:cNvPr id="7" name="TextBox 6"/>
          <p:cNvSpPr txBox="1"/>
          <p:nvPr/>
        </p:nvSpPr>
        <p:spPr>
          <a:xfrm>
            <a:off x="595222" y="1137201"/>
            <a:ext cx="11234827" cy="4801314"/>
          </a:xfrm>
          <a:prstGeom prst="rect">
            <a:avLst/>
          </a:prstGeom>
          <a:noFill/>
          <a:ln>
            <a:noFill/>
          </a:ln>
        </p:spPr>
        <p:txBody>
          <a:bodyPr wrap="square">
            <a:spAutoFit/>
          </a:bodyPr>
          <a:lstStyle/>
          <a:p>
            <a:r>
              <a:rPr lang="en-US" b="1"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Auction Sphere – Online Auction System</a:t>
            </a:r>
            <a:r>
              <a:rPr lang="en-US" dirty="0">
                <a:latin typeface="Times New Roman" panose="02020603050405020304" pitchFamily="18" charset="0"/>
                <a:cs typeface="Times New Roman" panose="02020603050405020304" pitchFamily="18" charset="0"/>
              </a:rPr>
              <a:t> successfully provides a platform where users can create auctions, place bids, and determine winners automatically.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system simplifies the traditional auction process by providing a </a:t>
            </a:r>
            <a:r>
              <a:rPr lang="en-US" b="1" dirty="0">
                <a:latin typeface="Times New Roman" panose="02020603050405020304" pitchFamily="18" charset="0"/>
                <a:cs typeface="Times New Roman" panose="02020603050405020304" pitchFamily="18" charset="0"/>
              </a:rPr>
              <a:t>secure, transparent, and user-friendly web application</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The project demonstrates the use of </a:t>
            </a:r>
            <a:r>
              <a:rPr lang="en-US" b="1" dirty="0">
                <a:latin typeface="Times New Roman" panose="02020603050405020304" pitchFamily="18" charset="0"/>
                <a:cs typeface="Times New Roman" panose="02020603050405020304" pitchFamily="18" charset="0"/>
              </a:rPr>
              <a:t>modern web technologies such as Flask, HTML, CSS, and SQLite</a:t>
            </a:r>
            <a:r>
              <a:rPr lang="en-US" dirty="0">
                <a:latin typeface="Times New Roman" panose="02020603050405020304" pitchFamily="18" charset="0"/>
                <a:cs typeface="Times New Roman" panose="02020603050405020304" pitchFamily="18" charset="0"/>
              </a:rPr>
              <a:t> to develop a full-stack application.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enables efficient management of auctions, real-time bidding, and secure user authentication.</a:t>
            </a:r>
          </a:p>
          <a:p>
            <a:r>
              <a:rPr lang="en-US" dirty="0">
                <a:latin typeface="Times New Roman" panose="02020603050405020304" pitchFamily="18" charset="0"/>
                <a:cs typeface="Times New Roman" panose="02020603050405020304" pitchFamily="18" charset="0"/>
              </a:rPr>
              <a:t>Overall, the system improves accessibility and allows users to participate in auctions from anywhere using an internet connection.</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Future Scope</a:t>
            </a:r>
          </a:p>
          <a:p>
            <a:r>
              <a:rPr lang="en-US" dirty="0">
                <a:latin typeface="Times New Roman" panose="02020603050405020304" pitchFamily="18" charset="0"/>
                <a:cs typeface="Times New Roman" panose="02020603050405020304" pitchFamily="18" charset="0"/>
              </a:rPr>
              <a:t>• Implement </a:t>
            </a:r>
            <a:r>
              <a:rPr lang="en-US" b="1" dirty="0">
                <a:latin typeface="Times New Roman" panose="02020603050405020304" pitchFamily="18" charset="0"/>
                <a:cs typeface="Times New Roman" panose="02020603050405020304" pitchFamily="18" charset="0"/>
              </a:rPr>
              <a:t>real-time bidding updates</a:t>
            </a:r>
            <a:r>
              <a:rPr lang="en-US" dirty="0">
                <a:latin typeface="Times New Roman" panose="02020603050405020304" pitchFamily="18" charset="0"/>
                <a:cs typeface="Times New Roman" panose="02020603050405020304" pitchFamily="18" charset="0"/>
              </a:rPr>
              <a:t> using </a:t>
            </a:r>
            <a:r>
              <a:rPr lang="en-US" dirty="0" err="1">
                <a:latin typeface="Times New Roman" panose="02020603050405020304" pitchFamily="18" charset="0"/>
                <a:cs typeface="Times New Roman" panose="02020603050405020304" pitchFamily="18" charset="0"/>
              </a:rPr>
              <a:t>WebSockets</a:t>
            </a:r>
            <a:r>
              <a:rPr lang="en-US" dirty="0">
                <a:latin typeface="Times New Roman" panose="02020603050405020304" pitchFamily="18" charset="0"/>
                <a:cs typeface="Times New Roman" panose="02020603050405020304" pitchFamily="18" charset="0"/>
              </a:rPr>
              <a:t> for instant bid notifications.</a:t>
            </a:r>
          </a:p>
          <a:p>
            <a:r>
              <a:rPr lang="en-US" dirty="0">
                <a:latin typeface="Times New Roman" panose="02020603050405020304" pitchFamily="18" charset="0"/>
                <a:cs typeface="Times New Roman" panose="02020603050405020304" pitchFamily="18" charset="0"/>
              </a:rPr>
              <a:t>• Integrate </a:t>
            </a:r>
            <a:r>
              <a:rPr lang="en-US" b="1" dirty="0">
                <a:latin typeface="Times New Roman" panose="02020603050405020304" pitchFamily="18" charset="0"/>
                <a:cs typeface="Times New Roman" panose="02020603050405020304" pitchFamily="18" charset="0"/>
              </a:rPr>
              <a:t>online payment gateways</a:t>
            </a:r>
            <a:r>
              <a:rPr lang="en-US" dirty="0">
                <a:latin typeface="Times New Roman" panose="02020603050405020304" pitchFamily="18" charset="0"/>
                <a:cs typeface="Times New Roman" panose="02020603050405020304" pitchFamily="18" charset="0"/>
              </a:rPr>
              <a:t> such as </a:t>
            </a:r>
            <a:r>
              <a:rPr lang="en-US" dirty="0" err="1">
                <a:latin typeface="Times New Roman" panose="02020603050405020304" pitchFamily="18" charset="0"/>
                <a:cs typeface="Times New Roman" panose="02020603050405020304" pitchFamily="18" charset="0"/>
              </a:rPr>
              <a:t>Razorpay</a:t>
            </a:r>
            <a:r>
              <a:rPr lang="en-US" dirty="0">
                <a:latin typeface="Times New Roman" panose="02020603050405020304" pitchFamily="18" charset="0"/>
                <a:cs typeface="Times New Roman" panose="02020603050405020304" pitchFamily="18" charset="0"/>
              </a:rPr>
              <a:t> or Stripe for secure transactions.</a:t>
            </a:r>
          </a:p>
          <a:p>
            <a:r>
              <a:rPr lang="en-US" dirty="0">
                <a:latin typeface="Times New Roman" panose="02020603050405020304" pitchFamily="18" charset="0"/>
                <a:cs typeface="Times New Roman" panose="02020603050405020304" pitchFamily="18" charset="0"/>
              </a:rPr>
              <a:t>• Add </a:t>
            </a:r>
            <a:r>
              <a:rPr lang="en-US" b="1" dirty="0">
                <a:latin typeface="Times New Roman" panose="02020603050405020304" pitchFamily="18" charset="0"/>
                <a:cs typeface="Times New Roman" panose="02020603050405020304" pitchFamily="18" charset="0"/>
              </a:rPr>
              <a:t>email or SMS notifications</a:t>
            </a:r>
            <a:r>
              <a:rPr lang="en-US" dirty="0">
                <a:latin typeface="Times New Roman" panose="02020603050405020304" pitchFamily="18" charset="0"/>
                <a:cs typeface="Times New Roman" panose="02020603050405020304" pitchFamily="18" charset="0"/>
              </a:rPr>
              <a:t> for auction winners and bid updates.</a:t>
            </a:r>
          </a:p>
          <a:p>
            <a:r>
              <a:rPr lang="en-US" dirty="0">
                <a:latin typeface="Times New Roman" panose="02020603050405020304" pitchFamily="18" charset="0"/>
                <a:cs typeface="Times New Roman" panose="02020603050405020304" pitchFamily="18" charset="0"/>
              </a:rPr>
              <a:t>• Enhance the </a:t>
            </a:r>
            <a:r>
              <a:rPr lang="en-US" b="1" dirty="0">
                <a:latin typeface="Times New Roman" panose="02020603050405020304" pitchFamily="18" charset="0"/>
                <a:cs typeface="Times New Roman" panose="02020603050405020304" pitchFamily="18" charset="0"/>
              </a:rPr>
              <a:t>user interface with advanced UI frameworks</a:t>
            </a:r>
            <a:r>
              <a:rPr lang="en-US" dirty="0">
                <a:latin typeface="Times New Roman" panose="02020603050405020304" pitchFamily="18" charset="0"/>
                <a:cs typeface="Times New Roman" panose="02020603050405020304" pitchFamily="18" charset="0"/>
              </a:rPr>
              <a:t> for a better user experience.</a:t>
            </a:r>
          </a:p>
          <a:p>
            <a:r>
              <a:rPr lang="en-US" dirty="0">
                <a:latin typeface="Times New Roman" panose="02020603050405020304" pitchFamily="18" charset="0"/>
                <a:cs typeface="Times New Roman" panose="02020603050405020304" pitchFamily="18" charset="0"/>
              </a:rPr>
              <a:t>• Improve system scalability by integrating </a:t>
            </a:r>
            <a:r>
              <a:rPr lang="en-US" b="1" dirty="0">
                <a:latin typeface="Times New Roman" panose="02020603050405020304" pitchFamily="18" charset="0"/>
                <a:cs typeface="Times New Roman" panose="02020603050405020304" pitchFamily="18" charset="0"/>
              </a:rPr>
              <a:t>cloud databases and advanced security mechanisms</a:t>
            </a:r>
            <a:r>
              <a:rPr lang="en-US" dirty="0">
                <a:latin typeface="Times New Roman" panose="02020603050405020304" pitchFamily="18" charset="0"/>
                <a:cs typeface="Times New Roman" panose="02020603050405020304" pitchFamily="18" charset="0"/>
              </a:rPr>
              <a:t>.</a:t>
            </a:r>
          </a:p>
        </p:txBody>
      </p:sp>
      <p:pic>
        <p:nvPicPr>
          <p:cNvPr id="8" name="Google Shape;22642;p14" descr="BIET-Bharat Institute of Engineering and Technology"/>
          <p:cNvPicPr preferRelativeResize="0">
            <a:picLocks noChangeAspect="1"/>
          </p:cNvPicPr>
          <p:nvPr/>
        </p:nvPicPr>
        <p:blipFill>
          <a:blip r:embed="rId2"/>
          <a:stretch>
            <a:fillRect/>
          </a:stretch>
        </p:blipFill>
        <p:spPr>
          <a:xfrm flipH="1">
            <a:off x="11031747" y="222041"/>
            <a:ext cx="550653" cy="520700"/>
          </a:xfrm>
          <a:prstGeom prst="rect">
            <a:avLst/>
          </a:prstGeom>
          <a:noFill/>
          <a:ln w="9525">
            <a:noFill/>
          </a:ln>
        </p:spPr>
      </p:pic>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Date Placeholder 1"/>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r>
              <a:rPr lang="en-US" altLang="en-US" sz="1400">
                <a:solidFill>
                  <a:schemeClr val="tx2"/>
                </a:solidFill>
                <a:sym typeface="+mn-ea"/>
              </a:rPr>
              <a:t>Date:07-03-2026</a:t>
            </a:r>
            <a:endParaRPr lang="en-US" altLang="en-US" sz="1400">
              <a:solidFill>
                <a:schemeClr val="tx2"/>
              </a:solidFill>
            </a:endParaRPr>
          </a:p>
        </p:txBody>
      </p:sp>
      <p:sp>
        <p:nvSpPr>
          <p:cNvPr id="11" name="Slide Number Placeholder 10"/>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t>13</a:t>
            </a:fld>
            <a:endParaRPr lang="en-US" altLang="en-US" sz="1400">
              <a:solidFill>
                <a:schemeClr val="bg1"/>
              </a:solidFill>
              <a:latin typeface="Century Gothic" panose="020B0502020202020204" pitchFamily="34" charset="0"/>
            </a:endParaRPr>
          </a:p>
        </p:txBody>
      </p:sp>
      <p:sp>
        <p:nvSpPr>
          <p:cNvPr id="7" name="Title 1"/>
          <p:cNvSpPr>
            <a:spLocks noGrp="1"/>
          </p:cNvSpPr>
          <p:nvPr>
            <p:ph type="title"/>
          </p:nvPr>
        </p:nvSpPr>
        <p:spPr>
          <a:xfrm>
            <a:off x="361950" y="360363"/>
            <a:ext cx="11550650" cy="1066800"/>
          </a:xfrm>
        </p:spPr>
        <p:txBody>
          <a:bodyPr vert="horz" wrap="square" lIns="91440" tIns="45720" rIns="91440" bIns="91440" numCol="1" anchor="b" anchorCtr="0" compatLnSpc="1">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References (APA Style)</a:t>
            </a:r>
          </a:p>
        </p:txBody>
      </p:sp>
      <p:sp>
        <p:nvSpPr>
          <p:cNvPr id="2" name="Footer Placeholder 1"/>
          <p:cNvSpPr txBox="1">
            <a:spLocks noGrp="1"/>
          </p:cNvSpPr>
          <p:nvPr>
            <p:ph type="ftr" sz="quarter" idx="11"/>
          </p:nvPr>
        </p:nvSpPr>
        <p:spPr>
          <a:noFill/>
        </p:spPr>
        <p:txBody>
          <a:bodyPr anchor="ctr" anchorCtr="0"/>
          <a:lstStyle/>
          <a:p>
            <a:pPr>
              <a:defRPr/>
            </a:pPr>
            <a:r>
              <a:rPr lang="en-IN" altLang="en-US"/>
              <a:t>FIRST REVIEW</a:t>
            </a:r>
            <a:r>
              <a:rPr lang="en-US"/>
              <a:t> – PROJECT STAGE 2</a:t>
            </a:r>
          </a:p>
        </p:txBody>
      </p:sp>
      <p:pic>
        <p:nvPicPr>
          <p:cNvPr id="23561" name="Google Shape;22642;p14" descr="BIET-Bharat Institute of Engineering and Technology"/>
          <p:cNvPicPr preferRelativeResize="0">
            <a:picLocks noChangeAspect="1"/>
          </p:cNvPicPr>
          <p:nvPr/>
        </p:nvPicPr>
        <p:blipFill>
          <a:blip r:embed="rId3"/>
          <a:stretch>
            <a:fillRect/>
          </a:stretch>
        </p:blipFill>
        <p:spPr>
          <a:xfrm>
            <a:off x="11049000" y="204788"/>
            <a:ext cx="584200" cy="520700"/>
          </a:xfrm>
          <a:prstGeom prst="rect">
            <a:avLst/>
          </a:prstGeom>
          <a:noFill/>
          <a:ln w="9525">
            <a:noFill/>
          </a:ln>
        </p:spPr>
      </p:pic>
      <p:pic>
        <p:nvPicPr>
          <p:cNvPr id="13" name="Google Shape;22642;p14" descr="BIET-Bharat Institute of Engineering and Technology"/>
          <p:cNvPicPr preferRelativeResize="0">
            <a:picLocks noChangeAspect="1"/>
          </p:cNvPicPr>
          <p:nvPr/>
        </p:nvPicPr>
        <p:blipFill>
          <a:blip r:embed="rId3"/>
          <a:stretch>
            <a:fillRect/>
          </a:stretch>
        </p:blipFill>
        <p:spPr>
          <a:xfrm flipH="1">
            <a:off x="11031747" y="222041"/>
            <a:ext cx="550653" cy="520700"/>
          </a:xfrm>
          <a:prstGeom prst="rect">
            <a:avLst/>
          </a:prstGeom>
          <a:noFill/>
          <a:ln w="9525">
            <a:noFill/>
          </a:ln>
        </p:spPr>
      </p:pic>
      <p:sp>
        <p:nvSpPr>
          <p:cNvPr id="16" name="Rectangle 4">
            <a:extLst>
              <a:ext uri="{FF2B5EF4-FFF2-40B4-BE49-F238E27FC236}">
                <a16:creationId xmlns:a16="http://schemas.microsoft.com/office/drawing/2014/main" id="{6266F4EF-074A-6C92-3E23-87A5D0B2E0C2}"/>
              </a:ext>
            </a:extLst>
          </p:cNvPr>
          <p:cNvSpPr>
            <a:spLocks noChangeArrowheads="1"/>
          </p:cNvSpPr>
          <p:nvPr/>
        </p:nvSpPr>
        <p:spPr bwMode="auto">
          <a:xfrm>
            <a:off x="901943" y="1389320"/>
            <a:ext cx="10389996"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Fielding, R. T. (2000).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Architectural styles and the design of network-based software architectures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University of California, Irvine.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Grinberg, M. (2018).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Flask web development: Developing web applications with Python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(2nd ed.). O’Reilly Media.</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Elmasri, R., &amp; Navathe, S. B. (2016).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Fundamentals of database systems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(7th ed.). Pearson Education.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Krishnamurthy, B., &amp; Rexford, J. (2001).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 protocols and practice: HTTP/1.1, networking protocols, caching, and traffic measurement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Addison-Wesley.</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Kurose, J. F., &amp; Ross, K. W. (2017).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Computer networking: A top-down approach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(7th ed.). Pearson.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Flask Documentation. (2024).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Flask web framework</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Retrieved from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4"/>
              </a:rPr>
              <a:t>https://flask.palletsprojects.com/</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Render Documentation. (2024).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Deploying web applications on Render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Retrieved from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5"/>
              </a:rPr>
              <a:t>https://render.com/docs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Date Placeholder 5"/>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ctr" eaLnBrk="1" hangingPunct="1"/>
            <a:r>
              <a:rPr lang="en-US" altLang="en-US" sz="1400">
                <a:solidFill>
                  <a:schemeClr val="tx2"/>
                </a:solidFill>
                <a:sym typeface="+mn-ea"/>
              </a:rPr>
              <a:t>Date:07-03-2026</a:t>
            </a:r>
            <a:endParaRPr lang="en-US" altLang="en-US" sz="1400">
              <a:solidFill>
                <a:schemeClr val="tx2"/>
              </a:solidFill>
            </a:endParaRPr>
          </a:p>
        </p:txBody>
      </p:sp>
      <p:sp>
        <p:nvSpPr>
          <p:cNvPr id="8" name="Slide Number Placeholder 7"/>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t>14</a:t>
            </a:fld>
            <a:endParaRPr lang="en-US" altLang="en-US" sz="1400">
              <a:solidFill>
                <a:schemeClr val="bg1"/>
              </a:solidFill>
              <a:latin typeface="Century Gothic" panose="020B0502020202020204" pitchFamily="34" charset="0"/>
            </a:endParaRPr>
          </a:p>
        </p:txBody>
      </p:sp>
      <p:sp>
        <p:nvSpPr>
          <p:cNvPr id="2" name="Title 1"/>
          <p:cNvSpPr>
            <a:spLocks noGrp="1"/>
          </p:cNvSpPr>
          <p:nvPr>
            <p:ph type="title"/>
          </p:nvPr>
        </p:nvSpPr>
        <p:spPr>
          <a:xfrm>
            <a:off x="1774825" y="2708275"/>
            <a:ext cx="9144000" cy="1066800"/>
          </a:xfrm>
        </p:spPr>
        <p:txBody>
          <a:bodyPr vert="horz" wrap="square" lIns="91440" tIns="45720" rIns="91440" bIns="91440" numCol="1" anchor="b" anchorCtr="0" compatLnSpc="1">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IN" sz="4000" b="0" i="0" u="none" strike="noStrike" kern="1200" cap="none" spc="0" normalizeH="0" baseline="0" noProof="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THANK YOU</a:t>
            </a:r>
          </a:p>
        </p:txBody>
      </p:sp>
      <p:sp>
        <p:nvSpPr>
          <p:cNvPr id="24581" name="Footer Placeholder 11"/>
          <p:cNvSpPr txBox="1"/>
          <p:nvPr/>
        </p:nvSpPr>
        <p:spPr>
          <a:xfrm>
            <a:off x="966788" y="6400800"/>
            <a:ext cx="5283200" cy="457200"/>
          </a:xfrm>
          <a:prstGeom prst="rect">
            <a:avLst/>
          </a:prstGeom>
          <a:noFill/>
          <a:ln w="9525">
            <a:noFill/>
          </a:ln>
        </p:spPr>
        <p:txBody>
          <a:bodyPr anchor="ctr" anchorCtr="0"/>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en-US" altLang="en-US" sz="1400">
              <a:solidFill>
                <a:schemeClr val="tx2"/>
              </a:solidFill>
            </a:endParaRPr>
          </a:p>
        </p:txBody>
      </p:sp>
      <p:sp>
        <p:nvSpPr>
          <p:cNvPr id="3" name="Footer Placeholder 2"/>
          <p:cNvSpPr txBox="1">
            <a:spLocks noGrp="1"/>
          </p:cNvSpPr>
          <p:nvPr>
            <p:ph type="ftr" sz="quarter" idx="11"/>
          </p:nvPr>
        </p:nvSpPr>
        <p:spPr>
          <a:noFill/>
        </p:spPr>
        <p:txBody>
          <a:bodyPr anchor="ctr" anchorCtr="0"/>
          <a:lstStyle/>
          <a:p>
            <a:pPr>
              <a:defRPr/>
            </a:pPr>
            <a:r>
              <a:rPr lang="en-IN" altLang="en-US"/>
              <a:t>FIRST REVIEW</a:t>
            </a:r>
            <a:r>
              <a:rPr lang="en-US"/>
              <a:t> – PROJECT STAGE 2</a:t>
            </a:r>
          </a:p>
        </p:txBody>
      </p:sp>
      <p:pic>
        <p:nvPicPr>
          <p:cNvPr id="24583" name="Google Shape;22642;p14" descr="BIET-Bharat Institute of Engineering and Technology"/>
          <p:cNvPicPr preferRelativeResize="0">
            <a:picLocks noChangeAspect="1"/>
          </p:cNvPicPr>
          <p:nvPr/>
        </p:nvPicPr>
        <p:blipFill>
          <a:blip r:embed="rId2"/>
          <a:stretch>
            <a:fillRect/>
          </a:stretch>
        </p:blipFill>
        <p:spPr>
          <a:xfrm>
            <a:off x="11049000" y="204788"/>
            <a:ext cx="584200" cy="520700"/>
          </a:xfrm>
          <a:prstGeom prst="rect">
            <a:avLst/>
          </a:prstGeom>
          <a:noFill/>
          <a:ln w="9525">
            <a:noFill/>
          </a:ln>
        </p:spPr>
      </p:pic>
      <p:pic>
        <p:nvPicPr>
          <p:cNvPr id="4" name="Google Shape;22642;p14" descr="BIET-Bharat Institute of Engineering and Technology"/>
          <p:cNvPicPr preferRelativeResize="0">
            <a:picLocks noChangeAspect="1"/>
          </p:cNvPicPr>
          <p:nvPr/>
        </p:nvPicPr>
        <p:blipFill>
          <a:blip r:embed="rId2"/>
          <a:stretch>
            <a:fillRect/>
          </a:stretch>
        </p:blipFill>
        <p:spPr>
          <a:xfrm flipH="1">
            <a:off x="11031747" y="222041"/>
            <a:ext cx="550653" cy="520700"/>
          </a:xfrm>
          <a:prstGeom prst="rect">
            <a:avLst/>
          </a:prstGeom>
          <a:noFill/>
          <a:ln w="9525">
            <a:noFill/>
          </a:ln>
        </p:spPr>
      </p:pic>
    </p:spTree>
  </p:cSld>
  <p:clrMapOvr>
    <a:masterClrMapping/>
  </p:clrMapOvr>
  <p:transition spd="med">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arterly earnings presentation">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spDef>
      <a:spPr/>
      <a:bodyPr rtlCol="0" anchor="ctr"/>
      <a:lstStyle>
        <a:defPPr algn="ctr">
          <a:defRPr dirty="0"/>
        </a:defPPr>
      </a:lstStyle>
      <a:style>
        <a:lnRef idx="3">
          <a:schemeClr val="lt1"/>
        </a:lnRef>
        <a:fillRef idx="1">
          <a:schemeClr val="accent2"/>
        </a:fillRef>
        <a:effectRef idx="1">
          <a:schemeClr val="accent2"/>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1687</Words>
  <Application>Microsoft Office PowerPoint</Application>
  <PresentationFormat>Widescreen</PresentationFormat>
  <Paragraphs>193</Paragraphs>
  <Slides>14</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Century Gothic</vt:lpstr>
      <vt:lpstr>Palatino Linotype</vt:lpstr>
      <vt:lpstr>Times New Roman</vt:lpstr>
      <vt:lpstr>Wingdings</vt:lpstr>
      <vt:lpstr>Wingdings 2</vt:lpstr>
      <vt:lpstr>Quarterly earnings presentation</vt:lpstr>
      <vt:lpstr>AUCTION SPHERE – ONLINE AUCTION PLATFORM</vt:lpstr>
      <vt:lpstr>Outline</vt:lpstr>
      <vt:lpstr>Abstract</vt:lpstr>
      <vt:lpstr>Introduction</vt:lpstr>
      <vt:lpstr>PowerPoint Presentation</vt:lpstr>
      <vt:lpstr>Literature Survey</vt:lpstr>
      <vt:lpstr>PowerPoint Presentation</vt:lpstr>
      <vt:lpstr>Objective</vt:lpstr>
      <vt:lpstr>PowerPoint Presentation</vt:lpstr>
      <vt:lpstr>PowerPoint Presentation</vt:lpstr>
      <vt:lpstr>PowerPoint Presentation</vt:lpstr>
      <vt:lpstr>PowerPoint Presentation</vt:lpstr>
      <vt:lpstr>References (APA Style)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SHWETHA</dc:creator>
  <cp:lastModifiedBy>Medaram Shwetha</cp:lastModifiedBy>
  <cp:revision>3</cp:revision>
  <dcterms:created xsi:type="dcterms:W3CDTF">2017-04-13T11:52:00Z</dcterms:created>
  <dcterms:modified xsi:type="dcterms:W3CDTF">2026-03-07T04:19:46Z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TC034605459991</vt:lpwstr>
  </property>
  <property fmtid="{D5CDD505-2E9C-101B-9397-08002B2CF9AE}" pid="3" name="ICV">
    <vt:lpwstr>5A1B54F5C06C476C9337B18072BBCBD6_13</vt:lpwstr>
  </property>
  <property fmtid="{D5CDD505-2E9C-101B-9397-08002B2CF9AE}" pid="4" name="KSOProductBuildVer">
    <vt:lpwstr>1033-12.2.0.23196</vt:lpwstr>
  </property>
</Properties>
</file>